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Title slide. Introduce the system in one line: a board advisory agent that answers from real filings with cited evidence, evaluated on US and GCC markets. Fill in the second marker and the date before the demo. The repo QR is already on the slide, bottom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Walk the roadmap in one breath. Signpost that results and the honest ablation are the core, and that a live demo follows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Lead with the concrete pain: a board reading a 300 page filing under time pressure. Land the key idea early: the value is not fluent prose, it is an answer the board can check against the source. 123 filings = 116 US plus 7 GCC company report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Read the one sentence problem slowly. Then justify the three scope choices: board level phrasing, evidence grounding, and cross market evaluation. This frames every design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Read the three RQs. Note the mapping: RQ1 retrieval and faithfulness, RQ2 the agent versus a plain baseline, RQ3 explainability. Results are organised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Three closest works. For each, say what it gives and what it lacks. Close on the gap card: the unoccupied intersection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120s. Two stages. Offline builds the index once. Online is the agent loop per query. Point at the diagram: ingestion and indexing on top, the agent and tools below. Keep it high level; detail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Two corpora, same pipeline. Stress that GCC is the harder, unmemorised market. Chunking respects regulatory sections. Note that FinanceBench is used for retrieval only, because its years predate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120s. The core contribution. Hybrid retrieval plus reranking, a ReAct agent with three scoped tools, and explainability by construction. The screenshot is the real trace: candidate scoring, fusion, and reranking with confidence. This is what makes an answer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Emphasise the paired design: agent and baselines answer identical questions, so McNemar is the right test. Faithfulness is judged only against retrieved context. Five runs give the variance reported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120s. The money slide. Accuracy climbs from 11 percent closed book, to 83 percent for naive RAG, to 96.8 percent for the agent. Faithfulness 99.4 percent. Report the five run mean, not a single lucky 100 percent. McNemar direction is unambiguous; the small p reflects only 35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Two honest findings. Reranking is not a universal win: it helps the US corpus and slightly costs recall on GCC. The ticker bug shows the value of end to end testing over unit tests. Name the one failing compound question so the viva cannot surprise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Four points. The strongest is grounding and abstention: the system prefers no answer to an unsupported one, which is the right default in governance. Note the small compute footprint and the advisory only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Four numbered contributions. If asked for the single biggest, choose the first: the assembled and evaluated whole, not any one component. The reproducibility harness is the credibility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Own the limitations before the markers raise them: sample size is the honest headline. Pair each with a concrete next step. The first future item directly fixes the statistical power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Thank the panel, invite questions, and transition to the live demo. The QR on this slide opens the repository at the commit of record, so invite the markers to scan it. Have your key results table printed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1008"/>
        </a:solidFill>
      </p:bgPr>
    </p:bg>
    <p:spTree>
      <p:nvGrpSpPr>
        <p:cNvPr id="1" name=""/>
        <p:cNvGrpSpPr/>
        <p:nvPr/>
      </p:nvGrpSpPr>
      <p:grpSpPr>
        <a:xfrm>
          <a:off x="0" y="0"/>
          <a:ext cx="0" cy="0"/>
          <a:chOff x="0" y="0"/>
          <a:chExt cx="0" cy="0"/>
        </a:xfrm>
      </p:grpSpPr>
      <p:pic>
        <p:nvPicPr>
          <p:cNvPr id="2" name="Image 0" descr="/Users/hatemisa/Desktop/CyberBoard-AI/src/ui/assets/cyberboard_favicon.png">    </p:cNvPr>
          <p:cNvPicPr>
            <a:picLocks noChangeAspect="1"/>
          </p:cNvPicPr>
          <p:nvPr/>
        </p:nvPicPr>
        <p:blipFill>
          <a:blip r:embed="rId1"/>
          <a:stretch>
            <a:fillRect/>
          </a:stretch>
        </p:blipFill>
        <p:spPr>
          <a:xfrm>
            <a:off x="5641848" y="1051560"/>
            <a:ext cx="914400" cy="914400"/>
          </a:xfrm>
          <a:prstGeom prst="rect">
            <a:avLst/>
          </a:prstGeom>
        </p:spPr>
      </p:pic>
      <p:sp>
        <p:nvSpPr>
          <p:cNvPr id="3" name="Text 0"/>
          <p:cNvSpPr/>
          <p:nvPr/>
        </p:nvSpPr>
        <p:spPr>
          <a:xfrm>
            <a:off x="457200" y="2148840"/>
            <a:ext cx="11274552" cy="868680"/>
          </a:xfrm>
          <a:prstGeom prst="rect">
            <a:avLst/>
          </a:prstGeom>
          <a:noFill/>
          <a:ln/>
        </p:spPr>
        <p:txBody>
          <a:bodyPr wrap="square" lIns="0" tIns="0" rIns="0" bIns="0" rtlCol="0" anchor="ctr"/>
          <a:lstStyle/>
          <a:p>
            <a:pPr algn="ctr" indent="0" marL="0">
              <a:buNone/>
            </a:pPr>
            <a:r>
              <a:rPr lang="en-US" sz="5200" b="1" dirty="0">
                <a:solidFill>
                  <a:srgbClr val="E9F6EF"/>
                </a:solidFill>
                <a:latin typeface="Calibri" pitchFamily="34" charset="0"/>
                <a:ea typeface="Calibri" pitchFamily="34" charset="-122"/>
                <a:cs typeface="Calibri" pitchFamily="34" charset="-120"/>
              </a:rPr>
              <a:t>CyberBoard AI</a:t>
            </a:r>
            <a:endParaRPr lang="en-US" sz="5200" dirty="0"/>
          </a:p>
        </p:txBody>
      </p:sp>
      <p:sp>
        <p:nvSpPr>
          <p:cNvPr id="4" name="Text 1"/>
          <p:cNvSpPr/>
          <p:nvPr/>
        </p:nvSpPr>
        <p:spPr>
          <a:xfrm>
            <a:off x="1371600" y="3063240"/>
            <a:ext cx="9445752" cy="457200"/>
          </a:xfrm>
          <a:prstGeom prst="rect">
            <a:avLst/>
          </a:prstGeom>
          <a:noFill/>
          <a:ln/>
        </p:spPr>
        <p:txBody>
          <a:bodyPr wrap="square" lIns="0" tIns="0" rIns="0" bIns="0" rtlCol="0" anchor="ctr"/>
          <a:lstStyle/>
          <a:p>
            <a:pPr algn="ctr" indent="0" marL="0">
              <a:buNone/>
            </a:pPr>
            <a:r>
              <a:rPr lang="en-US" sz="1800" dirty="0">
                <a:solidFill>
                  <a:srgbClr val="6EE7B7"/>
                </a:solidFill>
                <a:latin typeface="Calibri" pitchFamily="34" charset="0"/>
                <a:ea typeface="Calibri" pitchFamily="34" charset="-122"/>
                <a:cs typeface="Calibri" pitchFamily="34" charset="-120"/>
              </a:rPr>
              <a:t>An agentic retrieval augmented advisory board over corporate filings</a:t>
            </a:r>
            <a:endParaRPr lang="en-US" sz="1800" dirty="0"/>
          </a:p>
        </p:txBody>
      </p:sp>
      <p:sp>
        <p:nvSpPr>
          <p:cNvPr id="5" name="Text 2"/>
          <p:cNvSpPr/>
          <p:nvPr/>
        </p:nvSpPr>
        <p:spPr>
          <a:xfrm>
            <a:off x="914400" y="4069080"/>
            <a:ext cx="10360152" cy="365760"/>
          </a:xfrm>
          <a:prstGeom prst="rect">
            <a:avLst/>
          </a:prstGeom>
          <a:noFill/>
          <a:ln/>
        </p:spPr>
        <p:txBody>
          <a:bodyPr wrap="square" lIns="0" tIns="0" rIns="0" bIns="0" rtlCol="0" anchor="ctr"/>
          <a:lstStyle/>
          <a:p>
            <a:pPr algn="ctr" indent="0" marL="0">
              <a:buNone/>
            </a:pPr>
            <a:r>
              <a:rPr lang="en-US" sz="1400" b="1" dirty="0">
                <a:solidFill>
                  <a:srgbClr val="E9F6EF"/>
                </a:solidFill>
                <a:latin typeface="Calibri" pitchFamily="34" charset="0"/>
                <a:ea typeface="Calibri" pitchFamily="34" charset="-122"/>
                <a:cs typeface="Calibri" pitchFamily="34" charset="-120"/>
              </a:rPr>
              <a:t>Hatem Isa</a:t>
            </a:r>
            <a:pPr algn="ctr" indent="0" marL="0">
              <a:buNone/>
            </a:pPr>
            <a:r>
              <a:rPr lang="en-US" sz="1400" dirty="0">
                <a:solidFill>
                  <a:srgbClr val="8FA89B"/>
                </a:solidFill>
                <a:latin typeface="Calibri" pitchFamily="34" charset="0"/>
                <a:ea typeface="Calibri" pitchFamily="34" charset="-122"/>
                <a:cs typeface="Calibri" pitchFamily="34" charset="-120"/>
              </a:rPr>
              <a:t>   |   ID 202508993   |   MSc in Artificial Intelligence, Bahrain Polytechnic</a:t>
            </a:r>
            <a:endParaRPr lang="en-US" sz="1400" dirty="0"/>
          </a:p>
        </p:txBody>
      </p:sp>
      <p:sp>
        <p:nvSpPr>
          <p:cNvPr id="6" name="Text 3"/>
          <p:cNvSpPr/>
          <p:nvPr/>
        </p:nvSpPr>
        <p:spPr>
          <a:xfrm>
            <a:off x="914400" y="4572000"/>
            <a:ext cx="10360152" cy="320040"/>
          </a:xfrm>
          <a:prstGeom prst="rect">
            <a:avLst/>
          </a:prstGeom>
          <a:noFill/>
          <a:ln/>
        </p:spPr>
        <p:txBody>
          <a:bodyPr wrap="square" lIns="0" tIns="0" rIns="0" bIns="0" rtlCol="0" anchor="ctr"/>
          <a:lstStyle/>
          <a:p>
            <a:pPr algn="ctr" indent="0" marL="0">
              <a:buNone/>
            </a:pPr>
            <a:r>
              <a:rPr lang="en-US" sz="1250" dirty="0">
                <a:solidFill>
                  <a:srgbClr val="8FA89B"/>
                </a:solidFill>
                <a:latin typeface="Calibri" pitchFamily="34" charset="0"/>
                <a:ea typeface="Calibri" pitchFamily="34" charset="-122"/>
                <a:cs typeface="Calibri" pitchFamily="34" charset="-120"/>
              </a:rPr>
              <a:t>Supervisor: </a:t>
            </a:r>
            <a:pPr algn="ctr" indent="0" marL="0">
              <a:buNone/>
            </a:pPr>
            <a:r>
              <a:rPr lang="en-US" sz="1250" dirty="0">
                <a:solidFill>
                  <a:srgbClr val="34D399"/>
                </a:solidFill>
                <a:latin typeface="Calibri" pitchFamily="34" charset="0"/>
                <a:ea typeface="Calibri" pitchFamily="34" charset="-122"/>
                <a:cs typeface="Calibri" pitchFamily="34" charset="-120"/>
              </a:rPr>
              <a:t>Dr. Joshua Samuel</a:t>
            </a:r>
            <a:pPr algn="ctr" indent="0" marL="0">
              <a:buNone/>
            </a:pPr>
            <a:r>
              <a:rPr lang="en-US" sz="1250" dirty="0">
                <a:solidFill>
                  <a:srgbClr val="8FA89B"/>
                </a:solidFill>
                <a:latin typeface="Calibri" pitchFamily="34" charset="0"/>
                <a:ea typeface="Calibri" pitchFamily="34" charset="-122"/>
                <a:cs typeface="Calibri" pitchFamily="34" charset="-120"/>
              </a:rPr>
              <a:t>    Second marker: </a:t>
            </a:r>
            <a:pPr algn="ctr" indent="0" marL="0">
              <a:buNone/>
            </a:pPr>
            <a:r>
              <a:rPr lang="en-US" sz="1250" dirty="0">
                <a:solidFill>
                  <a:srgbClr val="34D399"/>
                </a:solidFill>
                <a:latin typeface="Calibri" pitchFamily="34" charset="0"/>
                <a:ea typeface="Calibri" pitchFamily="34" charset="-122"/>
                <a:cs typeface="Calibri" pitchFamily="34" charset="-120"/>
              </a:rPr>
              <a:t>[Second Marker]</a:t>
            </a:r>
            <a:pPr algn="ctr" indent="0" marL="0">
              <a:buNone/>
            </a:pPr>
            <a:r>
              <a:rPr lang="en-US" sz="1250" dirty="0">
                <a:solidFill>
                  <a:srgbClr val="8FA89B"/>
                </a:solidFill>
                <a:latin typeface="Calibri" pitchFamily="34" charset="0"/>
                <a:ea typeface="Calibri" pitchFamily="34" charset="-122"/>
                <a:cs typeface="Calibri" pitchFamily="34" charset="-120"/>
              </a:rPr>
              <a:t>    Date: </a:t>
            </a:r>
            <a:pPr algn="ctr" indent="0" marL="0">
              <a:buNone/>
            </a:pPr>
            <a:r>
              <a:rPr lang="en-US" sz="1250" dirty="0">
                <a:solidFill>
                  <a:srgbClr val="34D399"/>
                </a:solidFill>
                <a:latin typeface="Calibri" pitchFamily="34" charset="0"/>
                <a:ea typeface="Calibri" pitchFamily="34" charset="-122"/>
                <a:cs typeface="Calibri" pitchFamily="34" charset="-120"/>
              </a:rPr>
              <a:t>1 September 2026</a:t>
            </a:r>
            <a:endParaRPr lang="en-US" sz="1250" dirty="0"/>
          </a:p>
        </p:txBody>
      </p:sp>
      <p:sp>
        <p:nvSpPr>
          <p:cNvPr id="7" name="Text 4"/>
          <p:cNvSpPr/>
          <p:nvPr/>
        </p:nvSpPr>
        <p:spPr>
          <a:xfrm>
            <a:off x="914400" y="5074920"/>
            <a:ext cx="10360152" cy="320040"/>
          </a:xfrm>
          <a:prstGeom prst="rect">
            <a:avLst/>
          </a:prstGeom>
          <a:noFill/>
          <a:ln/>
        </p:spPr>
        <p:txBody>
          <a:bodyPr wrap="square" lIns="0" tIns="0" rIns="0" bIns="0" rtlCol="0" anchor="ctr"/>
          <a:lstStyle/>
          <a:p>
            <a:pPr algn="ctr" indent="0" marL="0">
              <a:buNone/>
            </a:pPr>
            <a:r>
              <a:rPr lang="en-US" sz="1100" i="1" dirty="0">
                <a:solidFill>
                  <a:srgbClr val="8FA89B"/>
                </a:solidFill>
                <a:latin typeface="Calibri" pitchFamily="34" charset="0"/>
                <a:ea typeface="Calibri" pitchFamily="34" charset="-122"/>
                <a:cs typeface="Calibri" pitchFamily="34" charset="-120"/>
              </a:rPr>
              <a:t>github.com/hatemmsc-ops/CyberBoard-AI    |    commit 9660fb8</a:t>
            </a:r>
            <a:endParaRPr lang="en-US" sz="1100" dirty="0"/>
          </a:p>
        </p:txBody>
      </p:sp>
      <p:sp>
        <p:nvSpPr>
          <p:cNvPr id="8" name="Shape 5"/>
          <p:cNvSpPr/>
          <p:nvPr/>
        </p:nvSpPr>
        <p:spPr>
          <a:xfrm>
            <a:off x="10387584" y="4956048"/>
            <a:ext cx="1572768" cy="1572768"/>
          </a:xfrm>
          <a:prstGeom prst="roundRect">
            <a:avLst>
              <a:gd name="adj" fmla="val 5814"/>
            </a:avLst>
          </a:prstGeom>
          <a:solidFill>
            <a:srgbClr val="FFFFFF"/>
          </a:solidFill>
          <a:ln w="12700">
            <a:solidFill>
              <a:srgbClr val="1E3B2E"/>
            </a:solidFill>
            <a:prstDash val="solid"/>
          </a:ln>
        </p:spPr>
        <p:txBody>
          <a:bodyPr/>
          <a:p/>
        </p:txBody>
      </p:sp>
      <p:pic>
        <p:nvPicPr>
          <p:cNvPr id="9" name="Image 1" descr="/Users/hatemisa/Desktop/Thesis/01 Demonstration/qr_brand.png">    </p:cNvPr>
          <p:cNvPicPr>
            <a:picLocks noChangeAspect="1"/>
          </p:cNvPicPr>
          <p:nvPr/>
        </p:nvPicPr>
        <p:blipFill>
          <a:blip r:embed="rId2"/>
          <a:stretch>
            <a:fillRect/>
          </a:stretch>
        </p:blipFill>
        <p:spPr>
          <a:xfrm>
            <a:off x="10442448" y="5010912"/>
            <a:ext cx="1463040" cy="1463040"/>
          </a:xfrm>
          <a:prstGeom prst="rect">
            <a:avLst/>
          </a:prstGeom>
        </p:spPr>
      </p:pic>
      <p:sp>
        <p:nvSpPr>
          <p:cNvPr id="10" name="Text 6"/>
          <p:cNvSpPr/>
          <p:nvPr/>
        </p:nvSpPr>
        <p:spPr>
          <a:xfrm>
            <a:off x="10277856" y="6547104"/>
            <a:ext cx="1792224" cy="219456"/>
          </a:xfrm>
          <a:prstGeom prst="rect">
            <a:avLst/>
          </a:prstGeom>
          <a:noFill/>
          <a:ln/>
        </p:spPr>
        <p:txBody>
          <a:bodyPr wrap="square" lIns="0" tIns="0" rIns="0" bIns="0" rtlCol="0" anchor="ctr"/>
          <a:lstStyle/>
          <a:p>
            <a:pPr algn="ctr" indent="0" marL="0">
              <a:buNone/>
            </a:pPr>
            <a:r>
              <a:rPr lang="en-US" sz="850" dirty="0">
                <a:solidFill>
                  <a:srgbClr val="8FA89B"/>
                </a:solidFill>
                <a:latin typeface="Calibri" pitchFamily="34" charset="0"/>
                <a:ea typeface="Calibri" pitchFamily="34" charset="-122"/>
                <a:cs typeface="Calibri" pitchFamily="34" charset="-120"/>
              </a:rPr>
              <a:t>scan for the repo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Roadmap of the next 20 minutes</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02 / 16</a:t>
            </a:r>
            <a:endParaRPr lang="en-US" sz="900" dirty="0"/>
          </a:p>
        </p:txBody>
      </p:sp>
      <p:sp>
        <p:nvSpPr>
          <p:cNvPr id="5" name="Shape 3"/>
          <p:cNvSpPr/>
          <p:nvPr/>
        </p:nvSpPr>
        <p:spPr>
          <a:xfrm>
            <a:off x="640080" y="160020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6" name="Shape 4"/>
          <p:cNvSpPr/>
          <p:nvPr/>
        </p:nvSpPr>
        <p:spPr>
          <a:xfrm>
            <a:off x="841248" y="1892808"/>
            <a:ext cx="548640" cy="548640"/>
          </a:xfrm>
          <a:prstGeom prst="ellipse">
            <a:avLst/>
          </a:prstGeom>
          <a:solidFill>
            <a:srgbClr val="163427"/>
          </a:solidFill>
          <a:ln w="15875">
            <a:solidFill>
              <a:srgbClr val="34D399"/>
            </a:solidFill>
            <a:prstDash val="solid"/>
          </a:ln>
        </p:spPr>
        <p:txBody>
          <a:bodyPr/>
          <a:p/>
        </p:txBody>
      </p:sp>
      <p:sp>
        <p:nvSpPr>
          <p:cNvPr id="7" name="Text 5"/>
          <p:cNvSpPr/>
          <p:nvPr/>
        </p:nvSpPr>
        <p:spPr>
          <a:xfrm>
            <a:off x="841248" y="189280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508760" y="169164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Motivation and problem</a:t>
            </a:r>
            <a:endParaRPr lang="en-US" sz="1350" dirty="0"/>
          </a:p>
        </p:txBody>
      </p:sp>
      <p:sp>
        <p:nvSpPr>
          <p:cNvPr id="9" name="Shape 7"/>
          <p:cNvSpPr/>
          <p:nvPr/>
        </p:nvSpPr>
        <p:spPr>
          <a:xfrm>
            <a:off x="4389120" y="160020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10" name="Shape 8"/>
          <p:cNvSpPr/>
          <p:nvPr/>
        </p:nvSpPr>
        <p:spPr>
          <a:xfrm>
            <a:off x="4590288" y="1892808"/>
            <a:ext cx="548640" cy="548640"/>
          </a:xfrm>
          <a:prstGeom prst="ellipse">
            <a:avLst/>
          </a:prstGeom>
          <a:solidFill>
            <a:srgbClr val="163427"/>
          </a:solidFill>
          <a:ln w="15875">
            <a:solidFill>
              <a:srgbClr val="34D399"/>
            </a:solidFill>
            <a:prstDash val="solid"/>
          </a:ln>
        </p:spPr>
        <p:txBody>
          <a:bodyPr/>
          <a:p/>
        </p:txBody>
      </p:sp>
      <p:sp>
        <p:nvSpPr>
          <p:cNvPr id="11" name="Text 9"/>
          <p:cNvSpPr/>
          <p:nvPr/>
        </p:nvSpPr>
        <p:spPr>
          <a:xfrm>
            <a:off x="4590288" y="189280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257800" y="169164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Research questions</a:t>
            </a:r>
            <a:endParaRPr lang="en-US" sz="1350" dirty="0"/>
          </a:p>
        </p:txBody>
      </p:sp>
      <p:sp>
        <p:nvSpPr>
          <p:cNvPr id="13" name="Shape 11"/>
          <p:cNvSpPr/>
          <p:nvPr/>
        </p:nvSpPr>
        <p:spPr>
          <a:xfrm>
            <a:off x="8138160" y="160020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14" name="Shape 12"/>
          <p:cNvSpPr/>
          <p:nvPr/>
        </p:nvSpPr>
        <p:spPr>
          <a:xfrm>
            <a:off x="8339328" y="1892808"/>
            <a:ext cx="548640" cy="548640"/>
          </a:xfrm>
          <a:prstGeom prst="ellipse">
            <a:avLst/>
          </a:prstGeom>
          <a:solidFill>
            <a:srgbClr val="163427"/>
          </a:solidFill>
          <a:ln w="15875">
            <a:solidFill>
              <a:srgbClr val="34D399"/>
            </a:solidFill>
            <a:prstDash val="solid"/>
          </a:ln>
        </p:spPr>
        <p:txBody>
          <a:bodyPr/>
          <a:p/>
        </p:txBody>
      </p:sp>
      <p:sp>
        <p:nvSpPr>
          <p:cNvPr id="15" name="Text 13"/>
          <p:cNvSpPr/>
          <p:nvPr/>
        </p:nvSpPr>
        <p:spPr>
          <a:xfrm>
            <a:off x="8339328" y="189280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9006840" y="169164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Related work and the gap</a:t>
            </a:r>
            <a:endParaRPr lang="en-US" sz="1350" dirty="0"/>
          </a:p>
        </p:txBody>
      </p:sp>
      <p:sp>
        <p:nvSpPr>
          <p:cNvPr id="17" name="Shape 15"/>
          <p:cNvSpPr/>
          <p:nvPr/>
        </p:nvSpPr>
        <p:spPr>
          <a:xfrm>
            <a:off x="640080" y="301752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18" name="Shape 16"/>
          <p:cNvSpPr/>
          <p:nvPr/>
        </p:nvSpPr>
        <p:spPr>
          <a:xfrm>
            <a:off x="841248" y="3310128"/>
            <a:ext cx="548640" cy="548640"/>
          </a:xfrm>
          <a:prstGeom prst="ellipse">
            <a:avLst/>
          </a:prstGeom>
          <a:solidFill>
            <a:srgbClr val="163427"/>
          </a:solidFill>
          <a:ln w="15875">
            <a:solidFill>
              <a:srgbClr val="34D399"/>
            </a:solidFill>
            <a:prstDash val="solid"/>
          </a:ln>
        </p:spPr>
        <p:txBody>
          <a:bodyPr/>
          <a:p/>
        </p:txBody>
      </p:sp>
      <p:sp>
        <p:nvSpPr>
          <p:cNvPr id="19" name="Text 17"/>
          <p:cNvSpPr/>
          <p:nvPr/>
        </p:nvSpPr>
        <p:spPr>
          <a:xfrm>
            <a:off x="841248" y="331012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508760" y="310896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Method and proposed approach</a:t>
            </a:r>
            <a:endParaRPr lang="en-US" sz="1350" dirty="0"/>
          </a:p>
        </p:txBody>
      </p:sp>
      <p:sp>
        <p:nvSpPr>
          <p:cNvPr id="21" name="Shape 19"/>
          <p:cNvSpPr/>
          <p:nvPr/>
        </p:nvSpPr>
        <p:spPr>
          <a:xfrm>
            <a:off x="4389120" y="301752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22" name="Shape 20"/>
          <p:cNvSpPr/>
          <p:nvPr/>
        </p:nvSpPr>
        <p:spPr>
          <a:xfrm>
            <a:off x="4590288" y="3310128"/>
            <a:ext cx="548640" cy="548640"/>
          </a:xfrm>
          <a:prstGeom prst="ellipse">
            <a:avLst/>
          </a:prstGeom>
          <a:solidFill>
            <a:srgbClr val="163427"/>
          </a:solidFill>
          <a:ln w="15875">
            <a:solidFill>
              <a:srgbClr val="34D399"/>
            </a:solidFill>
            <a:prstDash val="solid"/>
          </a:ln>
        </p:spPr>
        <p:txBody>
          <a:bodyPr/>
          <a:p/>
        </p:txBody>
      </p:sp>
      <p:sp>
        <p:nvSpPr>
          <p:cNvPr id="23" name="Text 21"/>
          <p:cNvSpPr/>
          <p:nvPr/>
        </p:nvSpPr>
        <p:spPr>
          <a:xfrm>
            <a:off x="4590288" y="331012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5257800" y="310896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Data and pre processing</a:t>
            </a:r>
            <a:endParaRPr lang="en-US" sz="1350" dirty="0"/>
          </a:p>
        </p:txBody>
      </p:sp>
      <p:sp>
        <p:nvSpPr>
          <p:cNvPr id="25" name="Shape 23"/>
          <p:cNvSpPr/>
          <p:nvPr/>
        </p:nvSpPr>
        <p:spPr>
          <a:xfrm>
            <a:off x="8138160" y="301752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26" name="Shape 24"/>
          <p:cNvSpPr/>
          <p:nvPr/>
        </p:nvSpPr>
        <p:spPr>
          <a:xfrm>
            <a:off x="8339328" y="3310128"/>
            <a:ext cx="548640" cy="548640"/>
          </a:xfrm>
          <a:prstGeom prst="ellipse">
            <a:avLst/>
          </a:prstGeom>
          <a:solidFill>
            <a:srgbClr val="163427"/>
          </a:solidFill>
          <a:ln w="15875">
            <a:solidFill>
              <a:srgbClr val="34D399"/>
            </a:solidFill>
            <a:prstDash val="solid"/>
          </a:ln>
        </p:spPr>
        <p:txBody>
          <a:bodyPr/>
          <a:p/>
        </p:txBody>
      </p:sp>
      <p:sp>
        <p:nvSpPr>
          <p:cNvPr id="27" name="Text 25"/>
          <p:cNvSpPr/>
          <p:nvPr/>
        </p:nvSpPr>
        <p:spPr>
          <a:xfrm>
            <a:off x="8339328" y="331012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9006840" y="310896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Experimental setup</a:t>
            </a:r>
            <a:endParaRPr lang="en-US" sz="1350" dirty="0"/>
          </a:p>
        </p:txBody>
      </p:sp>
      <p:sp>
        <p:nvSpPr>
          <p:cNvPr id="29" name="Shape 27"/>
          <p:cNvSpPr/>
          <p:nvPr/>
        </p:nvSpPr>
        <p:spPr>
          <a:xfrm>
            <a:off x="640080" y="443484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30" name="Shape 28"/>
          <p:cNvSpPr/>
          <p:nvPr/>
        </p:nvSpPr>
        <p:spPr>
          <a:xfrm>
            <a:off x="841248" y="4727448"/>
            <a:ext cx="548640" cy="548640"/>
          </a:xfrm>
          <a:prstGeom prst="ellipse">
            <a:avLst/>
          </a:prstGeom>
          <a:solidFill>
            <a:srgbClr val="163427"/>
          </a:solidFill>
          <a:ln w="15875">
            <a:solidFill>
              <a:srgbClr val="34D399"/>
            </a:solidFill>
            <a:prstDash val="solid"/>
          </a:ln>
        </p:spPr>
        <p:txBody>
          <a:bodyPr/>
          <a:p/>
        </p:txBody>
      </p:sp>
      <p:sp>
        <p:nvSpPr>
          <p:cNvPr id="31" name="Text 29"/>
          <p:cNvSpPr/>
          <p:nvPr/>
        </p:nvSpPr>
        <p:spPr>
          <a:xfrm>
            <a:off x="841248" y="472744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7</a:t>
            </a:r>
            <a:endParaRPr lang="en-US" sz="1400" dirty="0"/>
          </a:p>
        </p:txBody>
      </p:sp>
      <p:sp>
        <p:nvSpPr>
          <p:cNvPr id="32" name="Text 30"/>
          <p:cNvSpPr/>
          <p:nvPr/>
        </p:nvSpPr>
        <p:spPr>
          <a:xfrm>
            <a:off x="1508760" y="452628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Headline results</a:t>
            </a:r>
            <a:endParaRPr lang="en-US" sz="1350" dirty="0"/>
          </a:p>
        </p:txBody>
      </p:sp>
      <p:sp>
        <p:nvSpPr>
          <p:cNvPr id="33" name="Shape 31"/>
          <p:cNvSpPr/>
          <p:nvPr/>
        </p:nvSpPr>
        <p:spPr>
          <a:xfrm>
            <a:off x="4389120" y="443484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34" name="Shape 32"/>
          <p:cNvSpPr/>
          <p:nvPr/>
        </p:nvSpPr>
        <p:spPr>
          <a:xfrm>
            <a:off x="4590288" y="4727448"/>
            <a:ext cx="548640" cy="548640"/>
          </a:xfrm>
          <a:prstGeom prst="ellipse">
            <a:avLst/>
          </a:prstGeom>
          <a:solidFill>
            <a:srgbClr val="163427"/>
          </a:solidFill>
          <a:ln w="15875">
            <a:solidFill>
              <a:srgbClr val="34D399"/>
            </a:solidFill>
            <a:prstDash val="solid"/>
          </a:ln>
        </p:spPr>
        <p:txBody>
          <a:bodyPr/>
          <a:p/>
        </p:txBody>
      </p:sp>
      <p:sp>
        <p:nvSpPr>
          <p:cNvPr id="35" name="Text 33"/>
          <p:cNvSpPr/>
          <p:nvPr/>
        </p:nvSpPr>
        <p:spPr>
          <a:xfrm>
            <a:off x="4590288" y="472744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8</a:t>
            </a:r>
            <a:endParaRPr lang="en-US" sz="1400" dirty="0"/>
          </a:p>
        </p:txBody>
      </p:sp>
      <p:sp>
        <p:nvSpPr>
          <p:cNvPr id="36" name="Text 34"/>
          <p:cNvSpPr/>
          <p:nvPr/>
        </p:nvSpPr>
        <p:spPr>
          <a:xfrm>
            <a:off x="5257800" y="452628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Ablations, errors, responsible AI</a:t>
            </a:r>
            <a:endParaRPr lang="en-US" sz="1350" dirty="0"/>
          </a:p>
        </p:txBody>
      </p:sp>
      <p:sp>
        <p:nvSpPr>
          <p:cNvPr id="37" name="Shape 35"/>
          <p:cNvSpPr/>
          <p:nvPr/>
        </p:nvSpPr>
        <p:spPr>
          <a:xfrm>
            <a:off x="8138160" y="4434840"/>
            <a:ext cx="3474720" cy="1143000"/>
          </a:xfrm>
          <a:prstGeom prst="roundRect">
            <a:avLst>
              <a:gd name="adj" fmla="val 8000"/>
            </a:avLst>
          </a:prstGeom>
          <a:solidFill>
            <a:srgbClr val="13291F"/>
          </a:solidFill>
          <a:ln w="12700">
            <a:solidFill>
              <a:srgbClr val="1E3B2E"/>
            </a:solidFill>
            <a:prstDash val="solid"/>
          </a:ln>
        </p:spPr>
        <p:txBody>
          <a:bodyPr/>
          <a:p/>
        </p:txBody>
      </p:sp>
      <p:sp>
        <p:nvSpPr>
          <p:cNvPr id="38" name="Shape 36"/>
          <p:cNvSpPr/>
          <p:nvPr/>
        </p:nvSpPr>
        <p:spPr>
          <a:xfrm>
            <a:off x="8339328" y="4727448"/>
            <a:ext cx="548640" cy="548640"/>
          </a:xfrm>
          <a:prstGeom prst="ellipse">
            <a:avLst/>
          </a:prstGeom>
          <a:solidFill>
            <a:srgbClr val="163427"/>
          </a:solidFill>
          <a:ln w="15875">
            <a:solidFill>
              <a:srgbClr val="34D399"/>
            </a:solidFill>
            <a:prstDash val="solid"/>
          </a:ln>
        </p:spPr>
        <p:txBody>
          <a:bodyPr/>
          <a:p/>
        </p:txBody>
      </p:sp>
      <p:sp>
        <p:nvSpPr>
          <p:cNvPr id="39" name="Text 37"/>
          <p:cNvSpPr/>
          <p:nvPr/>
        </p:nvSpPr>
        <p:spPr>
          <a:xfrm>
            <a:off x="8339328" y="4727448"/>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9</a:t>
            </a:r>
            <a:endParaRPr lang="en-US" sz="1400" dirty="0"/>
          </a:p>
        </p:txBody>
      </p:sp>
      <p:sp>
        <p:nvSpPr>
          <p:cNvPr id="40" name="Text 38"/>
          <p:cNvSpPr/>
          <p:nvPr/>
        </p:nvSpPr>
        <p:spPr>
          <a:xfrm>
            <a:off x="9006840" y="4526280"/>
            <a:ext cx="2514600" cy="960120"/>
          </a:xfrm>
          <a:prstGeom prst="rect">
            <a:avLst/>
          </a:prstGeom>
          <a:noFill/>
          <a:ln/>
        </p:spPr>
        <p:txBody>
          <a:bodyPr wrap="square" lIns="0" tIns="0" rIns="0" bIns="0" rtlCol="0" anchor="ctr"/>
          <a:lstStyle/>
          <a:p>
            <a:pPr indent="0" marL="0">
              <a:buNone/>
            </a:pPr>
            <a:r>
              <a:rPr lang="en-US" sz="1350" b="1" dirty="0">
                <a:solidFill>
                  <a:srgbClr val="E9F6EF"/>
                </a:solidFill>
                <a:latin typeface="Calibri" pitchFamily="34" charset="0"/>
                <a:ea typeface="Calibri" pitchFamily="34" charset="-122"/>
                <a:cs typeface="Calibri" pitchFamily="34" charset="-120"/>
              </a:rPr>
              <a:t>Contributions and future work</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Boards decide from documents no tool really reads</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03 / 16</a:t>
            </a:r>
            <a:endParaRPr lang="en-US" sz="900" dirty="0"/>
          </a:p>
        </p:txBody>
      </p:sp>
      <p:sp>
        <p:nvSpPr>
          <p:cNvPr id="5" name="Text 3"/>
          <p:cNvSpPr/>
          <p:nvPr/>
        </p:nvSpPr>
        <p:spPr>
          <a:xfrm>
            <a:off x="640080" y="1600200"/>
            <a:ext cx="6035040" cy="1828800"/>
          </a:xfrm>
          <a:prstGeom prst="rect">
            <a:avLst/>
          </a:prstGeom>
          <a:noFill/>
          <a:ln/>
        </p:spPr>
        <p:txBody>
          <a:bodyPr wrap="square" lIns="0" tIns="0" rIns="0" bIns="0" rtlCol="0" anchor="t"/>
          <a:lstStyle/>
          <a:p>
            <a:pPr indent="0" marL="0">
              <a:lnSpc>
                <a:spcPct val="115000"/>
              </a:lnSpc>
              <a:buNone/>
            </a:pPr>
            <a:r>
              <a:rPr lang="en-US" sz="1700" dirty="0">
                <a:solidFill>
                  <a:srgbClr val="E9F6EF"/>
                </a:solidFill>
                <a:latin typeface="Calibri" pitchFamily="34" charset="0"/>
                <a:ea typeface="Calibri" pitchFamily="34" charset="-122"/>
                <a:cs typeface="Calibri" pitchFamily="34" charset="-120"/>
              </a:rPr>
              <a:t>A single annual filing runs to hundreds of pages. A board member must reach a defensible decision from it, </a:t>
            </a:r>
            <a:pPr indent="0" marL="0">
              <a:lnSpc>
                <a:spcPct val="115000"/>
              </a:lnSpc>
              <a:buNone/>
            </a:pPr>
            <a:r>
              <a:rPr lang="en-US" sz="1700" b="1" dirty="0">
                <a:solidFill>
                  <a:srgbClr val="6EE7B7"/>
                </a:solidFill>
                <a:latin typeface="Calibri" pitchFamily="34" charset="0"/>
                <a:ea typeface="Calibri" pitchFamily="34" charset="-122"/>
                <a:cs typeface="Calibri" pitchFamily="34" charset="-120"/>
              </a:rPr>
              <a:t>and general question answering tools answer each question in isolation, with no traceable evidence.</a:t>
            </a:r>
            <a:endParaRPr lang="en-US" sz="1700" dirty="0"/>
          </a:p>
        </p:txBody>
      </p:sp>
      <p:sp>
        <p:nvSpPr>
          <p:cNvPr id="6" name="Text 4"/>
          <p:cNvSpPr/>
          <p:nvPr/>
        </p:nvSpPr>
        <p:spPr>
          <a:xfrm>
            <a:off x="640080" y="3429000"/>
            <a:ext cx="6035040" cy="1645920"/>
          </a:xfrm>
          <a:prstGeom prst="rect">
            <a:avLst/>
          </a:prstGeom>
          <a:noFill/>
          <a:ln/>
        </p:spPr>
        <p:txBody>
          <a:bodyPr wrap="square" lIns="0" tIns="0" rIns="0" bIns="0" rtlCol="0" anchor="t"/>
          <a:lstStyle/>
          <a:p>
            <a:pPr indent="0" marL="0">
              <a:lnSpc>
                <a:spcPct val="115000"/>
              </a:lnSpc>
              <a:buNone/>
            </a:pPr>
            <a:r>
              <a:rPr lang="en-US" sz="1400" dirty="0">
                <a:solidFill>
                  <a:srgbClr val="8FA89B"/>
                </a:solidFill>
                <a:latin typeface="Calibri" pitchFamily="34" charset="0"/>
                <a:ea typeface="Calibri" pitchFamily="34" charset="-122"/>
                <a:cs typeface="Calibri" pitchFamily="34" charset="-120"/>
              </a:rPr>
              <a:t>A chatbot will answer fluently about a 10 K risk section. The board cannot tell whether the answer came from the filing or from the model's memory. In governance, an ungrounded answer is worse than none.</a:t>
            </a:r>
            <a:endParaRPr lang="en-US" sz="1400" dirty="0"/>
          </a:p>
        </p:txBody>
      </p:sp>
      <p:sp>
        <p:nvSpPr>
          <p:cNvPr id="7" name="Shape 5"/>
          <p:cNvSpPr/>
          <p:nvPr/>
        </p:nvSpPr>
        <p:spPr>
          <a:xfrm>
            <a:off x="7315200" y="1737360"/>
            <a:ext cx="4206240" cy="3108960"/>
          </a:xfrm>
          <a:prstGeom prst="roundRect">
            <a:avLst>
              <a:gd name="adj" fmla="val 4118"/>
            </a:avLst>
          </a:prstGeom>
          <a:solidFill>
            <a:srgbClr val="13291F"/>
          </a:solidFill>
          <a:ln w="12700">
            <a:solidFill>
              <a:srgbClr val="1E3B2E"/>
            </a:solidFill>
            <a:prstDash val="solid"/>
          </a:ln>
        </p:spPr>
        <p:txBody>
          <a:bodyPr/>
          <a:p/>
        </p:txBody>
      </p:sp>
      <p:sp>
        <p:nvSpPr>
          <p:cNvPr id="8" name="Text 6"/>
          <p:cNvSpPr/>
          <p:nvPr/>
        </p:nvSpPr>
        <p:spPr>
          <a:xfrm>
            <a:off x="7498080" y="1965960"/>
            <a:ext cx="3840480" cy="914400"/>
          </a:xfrm>
          <a:prstGeom prst="rect">
            <a:avLst/>
          </a:prstGeom>
          <a:noFill/>
          <a:ln/>
        </p:spPr>
        <p:txBody>
          <a:bodyPr wrap="square" lIns="0" tIns="0" rIns="0" bIns="0" rtlCol="0" anchor="ctr"/>
          <a:lstStyle/>
          <a:p>
            <a:pPr algn="ctr" indent="0" marL="0">
              <a:buNone/>
            </a:pPr>
            <a:r>
              <a:rPr lang="en-US" sz="6000" b="1" dirty="0">
                <a:solidFill>
                  <a:srgbClr val="34D399"/>
                </a:solidFill>
                <a:latin typeface="Calibri" pitchFamily="34" charset="0"/>
                <a:ea typeface="Calibri" pitchFamily="34" charset="-122"/>
                <a:cs typeface="Calibri" pitchFamily="34" charset="-120"/>
              </a:rPr>
              <a:t>hundreds</a:t>
            </a:r>
            <a:endParaRPr lang="en-US" sz="6000" dirty="0"/>
          </a:p>
        </p:txBody>
      </p:sp>
      <p:sp>
        <p:nvSpPr>
          <p:cNvPr id="9" name="Text 7"/>
          <p:cNvSpPr/>
          <p:nvPr/>
        </p:nvSpPr>
        <p:spPr>
          <a:xfrm>
            <a:off x="7498080" y="2971800"/>
            <a:ext cx="3840480" cy="365760"/>
          </a:xfrm>
          <a:prstGeom prst="rect">
            <a:avLst/>
          </a:prstGeom>
          <a:noFill/>
          <a:ln/>
        </p:spPr>
        <p:txBody>
          <a:bodyPr wrap="square" lIns="0" tIns="0" rIns="0" bIns="0" rtlCol="0" anchor="ctr"/>
          <a:lstStyle/>
          <a:p>
            <a:pPr algn="ctr" indent="0" marL="0">
              <a:buNone/>
            </a:pPr>
            <a:r>
              <a:rPr lang="en-US" sz="1400" dirty="0">
                <a:solidFill>
                  <a:srgbClr val="8FA89B"/>
                </a:solidFill>
                <a:latin typeface="Calibri" pitchFamily="34" charset="0"/>
                <a:ea typeface="Calibri" pitchFamily="34" charset="-122"/>
                <a:cs typeface="Calibri" pitchFamily="34" charset="-120"/>
              </a:rPr>
              <a:t>of pages per filing, across</a:t>
            </a:r>
            <a:endParaRPr lang="en-US" sz="1400" dirty="0"/>
          </a:p>
        </p:txBody>
      </p:sp>
      <p:sp>
        <p:nvSpPr>
          <p:cNvPr id="10" name="Text 8"/>
          <p:cNvSpPr/>
          <p:nvPr/>
        </p:nvSpPr>
        <p:spPr>
          <a:xfrm>
            <a:off x="7498080" y="3383280"/>
            <a:ext cx="3840480" cy="365760"/>
          </a:xfrm>
          <a:prstGeom prst="rect">
            <a:avLst/>
          </a:prstGeom>
          <a:noFill/>
          <a:ln/>
        </p:spPr>
        <p:txBody>
          <a:bodyPr wrap="square" lIns="0" tIns="0" rIns="0" bIns="0" rtlCol="0" anchor="ctr"/>
          <a:lstStyle/>
          <a:p>
            <a:pPr algn="ctr" indent="0" marL="0">
              <a:buNone/>
            </a:pPr>
            <a:r>
              <a:rPr lang="en-US" sz="1700" b="1" dirty="0">
                <a:solidFill>
                  <a:srgbClr val="E9F6EF"/>
                </a:solidFill>
                <a:latin typeface="Calibri" pitchFamily="34" charset="0"/>
                <a:ea typeface="Calibri" pitchFamily="34" charset="-122"/>
                <a:cs typeface="Calibri" pitchFamily="34" charset="-120"/>
              </a:rPr>
              <a:t>123 filings</a:t>
            </a:r>
            <a:pPr algn="ctr" indent="0" marL="0">
              <a:buNone/>
            </a:pPr>
            <a:r>
              <a:rPr lang="en-US" sz="1700" dirty="0">
                <a:solidFill>
                  <a:srgbClr val="8FA89B"/>
                </a:solidFill>
                <a:latin typeface="Calibri" pitchFamily="34" charset="0"/>
                <a:ea typeface="Calibri" pitchFamily="34" charset="-122"/>
                <a:cs typeface="Calibri" pitchFamily="34" charset="-120"/>
              </a:rPr>
              <a:t>  from  </a:t>
            </a:r>
            <a:pPr algn="ctr" indent="0" marL="0">
              <a:buNone/>
            </a:pPr>
            <a:r>
              <a:rPr lang="en-US" sz="1700" b="1" dirty="0">
                <a:solidFill>
                  <a:srgbClr val="E9F6EF"/>
                </a:solidFill>
                <a:latin typeface="Calibri" pitchFamily="34" charset="0"/>
                <a:ea typeface="Calibri" pitchFamily="34" charset="-122"/>
                <a:cs typeface="Calibri" pitchFamily="34" charset="-120"/>
              </a:rPr>
              <a:t>27 companies</a:t>
            </a:r>
            <a:endParaRPr lang="en-US" sz="1700" dirty="0"/>
          </a:p>
        </p:txBody>
      </p:sp>
      <p:sp>
        <p:nvSpPr>
          <p:cNvPr id="11" name="Text 9"/>
          <p:cNvSpPr/>
          <p:nvPr/>
        </p:nvSpPr>
        <p:spPr>
          <a:xfrm>
            <a:off x="7498080" y="3977640"/>
            <a:ext cx="3840480" cy="457200"/>
          </a:xfrm>
          <a:prstGeom prst="rect">
            <a:avLst/>
          </a:prstGeom>
          <a:noFill/>
          <a:ln/>
        </p:spPr>
        <p:txBody>
          <a:bodyPr wrap="square" lIns="0" tIns="0" rIns="0" bIns="0" rtlCol="0" anchor="ctr"/>
          <a:lstStyle/>
          <a:p>
            <a:pPr algn="ctr" indent="0" marL="0">
              <a:buNone/>
            </a:pPr>
            <a:r>
              <a:rPr lang="en-US" sz="1300" i="1" dirty="0">
                <a:solidFill>
                  <a:srgbClr val="6EE7B7"/>
                </a:solidFill>
                <a:latin typeface="Calibri" pitchFamily="34" charset="0"/>
                <a:ea typeface="Calibri" pitchFamily="34" charset="-122"/>
                <a:cs typeface="Calibri" pitchFamily="34" charset="-120"/>
              </a:rPr>
              <a:t>two markets, US and GCC</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One system, three capabilities, two markets</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04 / 16</a:t>
            </a:r>
            <a:endParaRPr lang="en-US" sz="900" dirty="0"/>
          </a:p>
        </p:txBody>
      </p:sp>
      <p:sp>
        <p:nvSpPr>
          <p:cNvPr id="5" name="Shape 3"/>
          <p:cNvSpPr/>
          <p:nvPr/>
        </p:nvSpPr>
        <p:spPr>
          <a:xfrm>
            <a:off x="640080" y="1554480"/>
            <a:ext cx="10881360" cy="1371600"/>
          </a:xfrm>
          <a:prstGeom prst="roundRect">
            <a:avLst>
              <a:gd name="adj" fmla="val 8000"/>
            </a:avLst>
          </a:prstGeom>
          <a:solidFill>
            <a:srgbClr val="10251B"/>
          </a:solidFill>
          <a:ln w="15875">
            <a:solidFill>
              <a:srgbClr val="34D399"/>
            </a:solidFill>
            <a:prstDash val="solid"/>
          </a:ln>
        </p:spPr>
        <p:txBody>
          <a:bodyPr/>
          <a:p/>
        </p:txBody>
      </p:sp>
      <p:sp>
        <p:nvSpPr>
          <p:cNvPr id="6" name="Text 4"/>
          <p:cNvSpPr/>
          <p:nvPr/>
        </p:nvSpPr>
        <p:spPr>
          <a:xfrm>
            <a:off x="914400" y="1691640"/>
            <a:ext cx="10332720" cy="1097280"/>
          </a:xfrm>
          <a:prstGeom prst="rect">
            <a:avLst/>
          </a:prstGeom>
          <a:noFill/>
          <a:ln/>
        </p:spPr>
        <p:txBody>
          <a:bodyPr wrap="square" lIns="0" tIns="0" rIns="0" bIns="0" rtlCol="0" anchor="ctr"/>
          <a:lstStyle/>
          <a:p>
            <a:pPr indent="0" marL="0">
              <a:lnSpc>
                <a:spcPct val="110000"/>
              </a:lnSpc>
              <a:buNone/>
            </a:pPr>
            <a:r>
              <a:rPr lang="en-US" sz="1800" b="1" dirty="0">
                <a:solidFill>
                  <a:srgbClr val="E9F6EF"/>
                </a:solidFill>
                <a:latin typeface="Calibri" pitchFamily="34" charset="0"/>
                <a:ea typeface="Calibri" pitchFamily="34" charset="-122"/>
                <a:cs typeface="Calibri" pitchFamily="34" charset="-120"/>
              </a:rPr>
              <a:t>No existing system combines hybrid retrieval, agentic reasoning, and answer level explainability for corporate governance advisory, and evaluates that combination on both a United States benchmark and Gulf Cooperation Council filings.</a:t>
            </a:r>
            <a:endParaRPr lang="en-US" sz="1800" dirty="0"/>
          </a:p>
        </p:txBody>
      </p:sp>
      <p:sp>
        <p:nvSpPr>
          <p:cNvPr id="7" name="Shape 5"/>
          <p:cNvSpPr/>
          <p:nvPr/>
        </p:nvSpPr>
        <p:spPr>
          <a:xfrm>
            <a:off x="640080" y="3291840"/>
            <a:ext cx="3474720" cy="2194560"/>
          </a:xfrm>
          <a:prstGeom prst="roundRect">
            <a:avLst>
              <a:gd name="adj" fmla="val 4167"/>
            </a:avLst>
          </a:prstGeom>
          <a:solidFill>
            <a:srgbClr val="13291F"/>
          </a:solidFill>
          <a:ln w="12700">
            <a:solidFill>
              <a:srgbClr val="1E3B2E"/>
            </a:solidFill>
            <a:prstDash val="solid"/>
          </a:ln>
        </p:spPr>
        <p:txBody>
          <a:bodyPr/>
          <a:p/>
        </p:txBody>
      </p:sp>
      <p:sp>
        <p:nvSpPr>
          <p:cNvPr id="8" name="Shape 6"/>
          <p:cNvSpPr/>
          <p:nvPr/>
        </p:nvSpPr>
        <p:spPr>
          <a:xfrm>
            <a:off x="914400" y="3566160"/>
            <a:ext cx="566928" cy="566928"/>
          </a:xfrm>
          <a:prstGeom prst="ellipse">
            <a:avLst/>
          </a:prstGeom>
          <a:solidFill>
            <a:srgbClr val="163427"/>
          </a:solidFill>
          <a:ln w="15875">
            <a:solidFill>
              <a:srgbClr val="34D399"/>
            </a:solidFill>
            <a:prstDash val="solid"/>
          </a:ln>
        </p:spPr>
        <p:txBody>
          <a:bodyPr/>
          <a:p/>
        </p:txBody>
      </p:sp>
      <p:sp>
        <p:nvSpPr>
          <p:cNvPr id="9" name="Text 7"/>
          <p:cNvSpPr/>
          <p:nvPr/>
        </p:nvSpPr>
        <p:spPr>
          <a:xfrm>
            <a:off x="914400" y="3566160"/>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600200" y="3639312"/>
            <a:ext cx="2377440" cy="45720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Board level</a:t>
            </a:r>
            <a:endParaRPr lang="en-US" sz="1600" dirty="0"/>
          </a:p>
        </p:txBody>
      </p:sp>
      <p:sp>
        <p:nvSpPr>
          <p:cNvPr id="11" name="Text 9"/>
          <p:cNvSpPr/>
          <p:nvPr/>
        </p:nvSpPr>
        <p:spPr>
          <a:xfrm>
            <a:off x="914400" y="4343400"/>
            <a:ext cx="2971800" cy="1005840"/>
          </a:xfrm>
          <a:prstGeom prst="rect">
            <a:avLst/>
          </a:prstGeom>
          <a:noFill/>
          <a:ln/>
        </p:spPr>
        <p:txBody>
          <a:bodyPr wrap="square" lIns="0" tIns="0" rIns="0" bIns="0" rtlCol="0" anchor="t"/>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answers phrased for a decision, not a chat</a:t>
            </a:r>
            <a:endParaRPr lang="en-US" sz="1350" dirty="0"/>
          </a:p>
        </p:txBody>
      </p:sp>
      <p:sp>
        <p:nvSpPr>
          <p:cNvPr id="12" name="Shape 10"/>
          <p:cNvSpPr/>
          <p:nvPr/>
        </p:nvSpPr>
        <p:spPr>
          <a:xfrm>
            <a:off x="4325112" y="3291840"/>
            <a:ext cx="3474720" cy="2194560"/>
          </a:xfrm>
          <a:prstGeom prst="roundRect">
            <a:avLst>
              <a:gd name="adj" fmla="val 4167"/>
            </a:avLst>
          </a:prstGeom>
          <a:solidFill>
            <a:srgbClr val="13291F"/>
          </a:solidFill>
          <a:ln w="12700">
            <a:solidFill>
              <a:srgbClr val="1E3B2E"/>
            </a:solidFill>
            <a:prstDash val="solid"/>
          </a:ln>
        </p:spPr>
        <p:txBody>
          <a:bodyPr/>
          <a:p/>
        </p:txBody>
      </p:sp>
      <p:sp>
        <p:nvSpPr>
          <p:cNvPr id="13" name="Shape 11"/>
          <p:cNvSpPr/>
          <p:nvPr/>
        </p:nvSpPr>
        <p:spPr>
          <a:xfrm>
            <a:off x="4599432" y="3566160"/>
            <a:ext cx="566928" cy="566928"/>
          </a:xfrm>
          <a:prstGeom prst="ellipse">
            <a:avLst/>
          </a:prstGeom>
          <a:solidFill>
            <a:srgbClr val="163427"/>
          </a:solidFill>
          <a:ln w="15875">
            <a:solidFill>
              <a:srgbClr val="34D399"/>
            </a:solidFill>
            <a:prstDash val="solid"/>
          </a:ln>
        </p:spPr>
        <p:txBody>
          <a:bodyPr/>
          <a:p/>
        </p:txBody>
      </p:sp>
      <p:sp>
        <p:nvSpPr>
          <p:cNvPr id="14" name="Text 12"/>
          <p:cNvSpPr/>
          <p:nvPr/>
        </p:nvSpPr>
        <p:spPr>
          <a:xfrm>
            <a:off x="4599432" y="3566160"/>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5285232" y="3639312"/>
            <a:ext cx="2377440" cy="45720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Evidence grounded</a:t>
            </a:r>
            <a:endParaRPr lang="en-US" sz="1600" dirty="0"/>
          </a:p>
        </p:txBody>
      </p:sp>
      <p:sp>
        <p:nvSpPr>
          <p:cNvPr id="16" name="Text 14"/>
          <p:cNvSpPr/>
          <p:nvPr/>
        </p:nvSpPr>
        <p:spPr>
          <a:xfrm>
            <a:off x="4599432" y="4343400"/>
            <a:ext cx="2971800" cy="1005840"/>
          </a:xfrm>
          <a:prstGeom prst="rect">
            <a:avLst/>
          </a:prstGeom>
          <a:noFill/>
          <a:ln/>
        </p:spPr>
        <p:txBody>
          <a:bodyPr wrap="square" lIns="0" tIns="0" rIns="0" bIns="0" rtlCol="0" anchor="t"/>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every claim tied to a cited filing section</a:t>
            </a:r>
            <a:endParaRPr lang="en-US" sz="1350" dirty="0"/>
          </a:p>
        </p:txBody>
      </p:sp>
      <p:sp>
        <p:nvSpPr>
          <p:cNvPr id="17" name="Shape 15"/>
          <p:cNvSpPr/>
          <p:nvPr/>
        </p:nvSpPr>
        <p:spPr>
          <a:xfrm>
            <a:off x="8010144" y="3291840"/>
            <a:ext cx="3474720" cy="2194560"/>
          </a:xfrm>
          <a:prstGeom prst="roundRect">
            <a:avLst>
              <a:gd name="adj" fmla="val 4167"/>
            </a:avLst>
          </a:prstGeom>
          <a:solidFill>
            <a:srgbClr val="13291F"/>
          </a:solidFill>
          <a:ln w="12700">
            <a:solidFill>
              <a:srgbClr val="1E3B2E"/>
            </a:solidFill>
            <a:prstDash val="solid"/>
          </a:ln>
        </p:spPr>
        <p:txBody>
          <a:bodyPr/>
          <a:p/>
        </p:txBody>
      </p:sp>
      <p:sp>
        <p:nvSpPr>
          <p:cNvPr id="18" name="Shape 16"/>
          <p:cNvSpPr/>
          <p:nvPr/>
        </p:nvSpPr>
        <p:spPr>
          <a:xfrm>
            <a:off x="8284464" y="3566160"/>
            <a:ext cx="566928" cy="566928"/>
          </a:xfrm>
          <a:prstGeom prst="ellipse">
            <a:avLst/>
          </a:prstGeom>
          <a:solidFill>
            <a:srgbClr val="163427"/>
          </a:solidFill>
          <a:ln w="15875">
            <a:solidFill>
              <a:srgbClr val="34D399"/>
            </a:solidFill>
            <a:prstDash val="solid"/>
          </a:ln>
        </p:spPr>
        <p:txBody>
          <a:bodyPr/>
          <a:p/>
        </p:txBody>
      </p:sp>
      <p:sp>
        <p:nvSpPr>
          <p:cNvPr id="19" name="Text 17"/>
          <p:cNvSpPr/>
          <p:nvPr/>
        </p:nvSpPr>
        <p:spPr>
          <a:xfrm>
            <a:off x="8284464" y="3566160"/>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970264" y="3639312"/>
            <a:ext cx="2377440" cy="45720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Cross market</a:t>
            </a:r>
            <a:endParaRPr lang="en-US" sz="1600" dirty="0"/>
          </a:p>
        </p:txBody>
      </p:sp>
      <p:sp>
        <p:nvSpPr>
          <p:cNvPr id="21" name="Text 19"/>
          <p:cNvSpPr/>
          <p:nvPr/>
        </p:nvSpPr>
        <p:spPr>
          <a:xfrm>
            <a:off x="8284464" y="4343400"/>
            <a:ext cx="2971800" cy="1005840"/>
          </a:xfrm>
          <a:prstGeom prst="rect">
            <a:avLst/>
          </a:prstGeom>
          <a:noFill/>
          <a:ln/>
        </p:spPr>
        <p:txBody>
          <a:bodyPr wrap="square" lIns="0" tIns="0" rIns="0" bIns="0" rtlCol="0" anchor="t"/>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tested on US filings and GCC disclosure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RESEARCH QUESTIONS</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Three questions the thesis answers</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05 / 16</a:t>
            </a:r>
            <a:endParaRPr lang="en-US" sz="900" dirty="0"/>
          </a:p>
        </p:txBody>
      </p:sp>
      <p:sp>
        <p:nvSpPr>
          <p:cNvPr id="5" name="Shape 3"/>
          <p:cNvSpPr/>
          <p:nvPr/>
        </p:nvSpPr>
        <p:spPr>
          <a:xfrm>
            <a:off x="640080" y="1600200"/>
            <a:ext cx="10881360" cy="1371600"/>
          </a:xfrm>
          <a:prstGeom prst="roundRect">
            <a:avLst>
              <a:gd name="adj" fmla="val 6667"/>
            </a:avLst>
          </a:prstGeom>
          <a:solidFill>
            <a:srgbClr val="13291F"/>
          </a:solidFill>
          <a:ln w="12700">
            <a:solidFill>
              <a:srgbClr val="1E3B2E"/>
            </a:solidFill>
            <a:prstDash val="solid"/>
          </a:ln>
        </p:spPr>
        <p:txBody>
          <a:bodyPr/>
          <a:p/>
        </p:txBody>
      </p:sp>
      <p:sp>
        <p:nvSpPr>
          <p:cNvPr id="6" name="Text 4"/>
          <p:cNvSpPr/>
          <p:nvPr/>
        </p:nvSpPr>
        <p:spPr>
          <a:xfrm>
            <a:off x="868680" y="1691640"/>
            <a:ext cx="1371600" cy="1188720"/>
          </a:xfrm>
          <a:prstGeom prst="rect">
            <a:avLst/>
          </a:prstGeom>
          <a:noFill/>
          <a:ln/>
        </p:spPr>
        <p:txBody>
          <a:bodyPr wrap="square" lIns="0" tIns="0" rIns="0" bIns="0" rtlCol="0" anchor="ctr"/>
          <a:lstStyle/>
          <a:p>
            <a:pPr indent="0" marL="0">
              <a:buNone/>
            </a:pPr>
            <a:r>
              <a:rPr lang="en-US" sz="2600" b="1" dirty="0">
                <a:solidFill>
                  <a:srgbClr val="34D399"/>
                </a:solidFill>
                <a:latin typeface="Calibri" pitchFamily="34" charset="0"/>
                <a:ea typeface="Calibri" pitchFamily="34" charset="-122"/>
                <a:cs typeface="Calibri" pitchFamily="34" charset="-120"/>
              </a:rPr>
              <a:t>RQ1</a:t>
            </a:r>
            <a:endParaRPr lang="en-US" sz="2600" dirty="0"/>
          </a:p>
        </p:txBody>
      </p:sp>
      <p:sp>
        <p:nvSpPr>
          <p:cNvPr id="7" name="Text 5"/>
          <p:cNvSpPr/>
          <p:nvPr/>
        </p:nvSpPr>
        <p:spPr>
          <a:xfrm>
            <a:off x="2286000" y="1709928"/>
            <a:ext cx="9052560" cy="1170432"/>
          </a:xfrm>
          <a:prstGeom prst="rect">
            <a:avLst/>
          </a:prstGeom>
          <a:noFill/>
          <a:ln/>
        </p:spPr>
        <p:txBody>
          <a:bodyPr wrap="square" lIns="0" tIns="0" rIns="0" bIns="0" rtlCol="0" anchor="ctr"/>
          <a:lstStyle/>
          <a:p>
            <a:pPr indent="0" marL="0">
              <a:lnSpc>
                <a:spcPct val="108000"/>
              </a:lnSpc>
              <a:buNone/>
            </a:pPr>
            <a:r>
              <a:rPr lang="en-US" sz="1450" dirty="0">
                <a:solidFill>
                  <a:srgbClr val="E9F6EF"/>
                </a:solidFill>
                <a:latin typeface="Calibri" pitchFamily="34" charset="0"/>
                <a:ea typeface="Calibri" pitchFamily="34" charset="-122"/>
                <a:cs typeface="Calibri" pitchFamily="34" charset="-120"/>
              </a:rPr>
              <a:t>How effectively can an agentic retrieval augmented system retrieve and combine information from corporate filings to support board level decisions, measured by retrieval precision and answer faithfulness?</a:t>
            </a:r>
            <a:endParaRPr lang="en-US" sz="1450" dirty="0"/>
          </a:p>
        </p:txBody>
      </p:sp>
      <p:sp>
        <p:nvSpPr>
          <p:cNvPr id="8" name="Shape 6"/>
          <p:cNvSpPr/>
          <p:nvPr/>
        </p:nvSpPr>
        <p:spPr>
          <a:xfrm>
            <a:off x="640080" y="3172968"/>
            <a:ext cx="10881360" cy="1371600"/>
          </a:xfrm>
          <a:prstGeom prst="roundRect">
            <a:avLst>
              <a:gd name="adj" fmla="val 6667"/>
            </a:avLst>
          </a:prstGeom>
          <a:solidFill>
            <a:srgbClr val="13291F"/>
          </a:solidFill>
          <a:ln w="12700">
            <a:solidFill>
              <a:srgbClr val="1E3B2E"/>
            </a:solidFill>
            <a:prstDash val="solid"/>
          </a:ln>
        </p:spPr>
        <p:txBody>
          <a:bodyPr/>
          <a:p/>
        </p:txBody>
      </p:sp>
      <p:sp>
        <p:nvSpPr>
          <p:cNvPr id="9" name="Text 7"/>
          <p:cNvSpPr/>
          <p:nvPr/>
        </p:nvSpPr>
        <p:spPr>
          <a:xfrm>
            <a:off x="868680" y="3264408"/>
            <a:ext cx="1371600" cy="1188720"/>
          </a:xfrm>
          <a:prstGeom prst="rect">
            <a:avLst/>
          </a:prstGeom>
          <a:noFill/>
          <a:ln/>
        </p:spPr>
        <p:txBody>
          <a:bodyPr wrap="square" lIns="0" tIns="0" rIns="0" bIns="0" rtlCol="0" anchor="ctr"/>
          <a:lstStyle/>
          <a:p>
            <a:pPr indent="0" marL="0">
              <a:buNone/>
            </a:pPr>
            <a:r>
              <a:rPr lang="en-US" sz="2600" b="1" dirty="0">
                <a:solidFill>
                  <a:srgbClr val="34D399"/>
                </a:solidFill>
                <a:latin typeface="Calibri" pitchFamily="34" charset="0"/>
                <a:ea typeface="Calibri" pitchFamily="34" charset="-122"/>
                <a:cs typeface="Calibri" pitchFamily="34" charset="-120"/>
              </a:rPr>
              <a:t>RQ2</a:t>
            </a:r>
            <a:endParaRPr lang="en-US" sz="2600" dirty="0"/>
          </a:p>
        </p:txBody>
      </p:sp>
      <p:sp>
        <p:nvSpPr>
          <p:cNvPr id="10" name="Text 8"/>
          <p:cNvSpPr/>
          <p:nvPr/>
        </p:nvSpPr>
        <p:spPr>
          <a:xfrm>
            <a:off x="2286000" y="3282696"/>
            <a:ext cx="9052560" cy="1170432"/>
          </a:xfrm>
          <a:prstGeom prst="rect">
            <a:avLst/>
          </a:prstGeom>
          <a:noFill/>
          <a:ln/>
        </p:spPr>
        <p:txBody>
          <a:bodyPr wrap="square" lIns="0" tIns="0" rIns="0" bIns="0" rtlCol="0" anchor="ctr"/>
          <a:lstStyle/>
          <a:p>
            <a:pPr indent="0" marL="0">
              <a:lnSpc>
                <a:spcPct val="108000"/>
              </a:lnSpc>
              <a:buNone/>
            </a:pPr>
            <a:r>
              <a:rPr lang="en-US" sz="1450" dirty="0">
                <a:solidFill>
                  <a:srgbClr val="E9F6EF"/>
                </a:solidFill>
                <a:latin typeface="Calibri" pitchFamily="34" charset="0"/>
                <a:ea typeface="Calibri" pitchFamily="34" charset="-122"/>
                <a:cs typeface="Calibri" pitchFamily="34" charset="-120"/>
              </a:rPr>
              <a:t>Does a multi tool agent architecture produce higher answer quality and fewer hallucinations than a single pass through retrieval augmented generation?</a:t>
            </a:r>
            <a:endParaRPr lang="en-US" sz="1450" dirty="0"/>
          </a:p>
        </p:txBody>
      </p:sp>
      <p:sp>
        <p:nvSpPr>
          <p:cNvPr id="11" name="Shape 9"/>
          <p:cNvSpPr/>
          <p:nvPr/>
        </p:nvSpPr>
        <p:spPr>
          <a:xfrm>
            <a:off x="640080" y="4745736"/>
            <a:ext cx="10881360" cy="1371600"/>
          </a:xfrm>
          <a:prstGeom prst="roundRect">
            <a:avLst>
              <a:gd name="adj" fmla="val 6667"/>
            </a:avLst>
          </a:prstGeom>
          <a:solidFill>
            <a:srgbClr val="13291F"/>
          </a:solidFill>
          <a:ln w="12700">
            <a:solidFill>
              <a:srgbClr val="1E3B2E"/>
            </a:solidFill>
            <a:prstDash val="solid"/>
          </a:ln>
        </p:spPr>
        <p:txBody>
          <a:bodyPr/>
          <a:p/>
        </p:txBody>
      </p:sp>
      <p:sp>
        <p:nvSpPr>
          <p:cNvPr id="12" name="Text 10"/>
          <p:cNvSpPr/>
          <p:nvPr/>
        </p:nvSpPr>
        <p:spPr>
          <a:xfrm>
            <a:off x="868680" y="4837176"/>
            <a:ext cx="1371600" cy="1188720"/>
          </a:xfrm>
          <a:prstGeom prst="rect">
            <a:avLst/>
          </a:prstGeom>
          <a:noFill/>
          <a:ln/>
        </p:spPr>
        <p:txBody>
          <a:bodyPr wrap="square" lIns="0" tIns="0" rIns="0" bIns="0" rtlCol="0" anchor="ctr"/>
          <a:lstStyle/>
          <a:p>
            <a:pPr indent="0" marL="0">
              <a:buNone/>
            </a:pPr>
            <a:r>
              <a:rPr lang="en-US" sz="2600" b="1" dirty="0">
                <a:solidFill>
                  <a:srgbClr val="34D399"/>
                </a:solidFill>
                <a:latin typeface="Calibri" pitchFamily="34" charset="0"/>
                <a:ea typeface="Calibri" pitchFamily="34" charset="-122"/>
                <a:cs typeface="Calibri" pitchFamily="34" charset="-120"/>
              </a:rPr>
              <a:t>RQ3</a:t>
            </a:r>
            <a:endParaRPr lang="en-US" sz="2600" dirty="0"/>
          </a:p>
        </p:txBody>
      </p:sp>
      <p:sp>
        <p:nvSpPr>
          <p:cNvPr id="13" name="Text 11"/>
          <p:cNvSpPr/>
          <p:nvPr/>
        </p:nvSpPr>
        <p:spPr>
          <a:xfrm>
            <a:off x="2286000" y="4855464"/>
            <a:ext cx="9052560" cy="1170432"/>
          </a:xfrm>
          <a:prstGeom prst="rect">
            <a:avLst/>
          </a:prstGeom>
          <a:noFill/>
          <a:ln/>
        </p:spPr>
        <p:txBody>
          <a:bodyPr wrap="square" lIns="0" tIns="0" rIns="0" bIns="0" rtlCol="0" anchor="ctr"/>
          <a:lstStyle/>
          <a:p>
            <a:pPr indent="0" marL="0">
              <a:lnSpc>
                <a:spcPct val="108000"/>
              </a:lnSpc>
              <a:buNone/>
            </a:pPr>
            <a:r>
              <a:rPr lang="en-US" sz="1450" dirty="0">
                <a:solidFill>
                  <a:srgbClr val="E9F6EF"/>
                </a:solidFill>
                <a:latin typeface="Calibri" pitchFamily="34" charset="0"/>
                <a:ea typeface="Calibri" pitchFamily="34" charset="-122"/>
                <a:cs typeface="Calibri" pitchFamily="34" charset="-120"/>
              </a:rPr>
              <a:t>Can the system explain each answer, through source attribution and a reasoning trace, so that a board member can verify it?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RELATED WORK</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Strong parts, no assembled whole</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06 / 16</a:t>
            </a:r>
            <a:endParaRPr lang="en-US" sz="900" dirty="0"/>
          </a:p>
        </p:txBody>
      </p:sp>
      <p:sp>
        <p:nvSpPr>
          <p:cNvPr id="5" name="Shape 3"/>
          <p:cNvSpPr/>
          <p:nvPr/>
        </p:nvSpPr>
        <p:spPr>
          <a:xfrm>
            <a:off x="640080" y="1554480"/>
            <a:ext cx="7223760" cy="1078992"/>
          </a:xfrm>
          <a:prstGeom prst="roundRect">
            <a:avLst>
              <a:gd name="adj" fmla="val 7627"/>
            </a:avLst>
          </a:prstGeom>
          <a:solidFill>
            <a:srgbClr val="13291F"/>
          </a:solidFill>
          <a:ln w="12700">
            <a:solidFill>
              <a:srgbClr val="1E3B2E"/>
            </a:solidFill>
            <a:prstDash val="solid"/>
          </a:ln>
        </p:spPr>
        <p:txBody>
          <a:bodyPr/>
          <a:p/>
        </p:txBody>
      </p:sp>
      <p:sp>
        <p:nvSpPr>
          <p:cNvPr id="6" name="Text 4"/>
          <p:cNvSpPr/>
          <p:nvPr/>
        </p:nvSpPr>
        <p:spPr>
          <a:xfrm>
            <a:off x="868680" y="1664208"/>
            <a:ext cx="6766560" cy="365760"/>
          </a:xfrm>
          <a:prstGeom prst="rect">
            <a:avLst/>
          </a:prstGeom>
          <a:noFill/>
          <a:ln/>
        </p:spPr>
        <p:txBody>
          <a:bodyPr wrap="square" lIns="0" tIns="0" rIns="0" bIns="0" rtlCol="0" anchor="ctr"/>
          <a:lstStyle/>
          <a:p>
            <a:pPr indent="0" marL="0">
              <a:buNone/>
            </a:pPr>
            <a:r>
              <a:rPr lang="en-US" sz="1450" b="1" dirty="0">
                <a:solidFill>
                  <a:srgbClr val="6EE7B7"/>
                </a:solidFill>
                <a:latin typeface="Calibri" pitchFamily="34" charset="0"/>
                <a:ea typeface="Calibri" pitchFamily="34" charset="-122"/>
                <a:cs typeface="Calibri" pitchFamily="34" charset="-120"/>
              </a:rPr>
              <a:t>FinSage, Wang et al.</a:t>
            </a:r>
            <a:endParaRPr lang="en-US" sz="1450" dirty="0"/>
          </a:p>
        </p:txBody>
      </p:sp>
      <p:sp>
        <p:nvSpPr>
          <p:cNvPr id="7" name="Text 5"/>
          <p:cNvSpPr/>
          <p:nvPr/>
        </p:nvSpPr>
        <p:spPr>
          <a:xfrm>
            <a:off x="868680" y="2011680"/>
            <a:ext cx="6766560" cy="292608"/>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Gives: </a:t>
            </a:r>
            <a:pPr indent="0" marL="0">
              <a:buNone/>
            </a:pPr>
            <a:r>
              <a:rPr lang="en-US" sz="1150" dirty="0">
                <a:solidFill>
                  <a:srgbClr val="E9F6EF"/>
                </a:solidFill>
                <a:latin typeface="Calibri" pitchFamily="34" charset="0"/>
                <a:ea typeface="Calibri" pitchFamily="34" charset="-122"/>
                <a:cs typeface="Calibri" pitchFamily="34" charset="-120"/>
              </a:rPr>
              <a:t>Strong two phase financial retrieval and reranking.</a:t>
            </a:r>
            <a:endParaRPr lang="en-US" sz="1150" dirty="0"/>
          </a:p>
        </p:txBody>
      </p:sp>
      <p:sp>
        <p:nvSpPr>
          <p:cNvPr id="8" name="Text 6"/>
          <p:cNvSpPr/>
          <p:nvPr/>
        </p:nvSpPr>
        <p:spPr>
          <a:xfrm>
            <a:off x="868680" y="2286000"/>
            <a:ext cx="6766560" cy="292608"/>
          </a:xfrm>
          <a:prstGeom prst="rect">
            <a:avLst/>
          </a:prstGeom>
          <a:noFill/>
          <a:ln/>
        </p:spPr>
        <p:txBody>
          <a:bodyPr wrap="square" lIns="0" tIns="0" rIns="0" bIns="0" rtlCol="0" anchor="ctr"/>
          <a:lstStyle/>
          <a:p>
            <a:pPr indent="0" marL="0">
              <a:buNone/>
            </a:pPr>
            <a:r>
              <a:rPr lang="en-US" sz="1150" b="1" dirty="0">
                <a:solidFill>
                  <a:srgbClr val="F0A868"/>
                </a:solidFill>
                <a:latin typeface="Calibri" pitchFamily="34" charset="0"/>
                <a:ea typeface="Calibri" pitchFamily="34" charset="-122"/>
                <a:cs typeface="Calibri" pitchFamily="34" charset="-120"/>
              </a:rPr>
              <a:t>Missing: </a:t>
            </a:r>
            <a:pPr indent="0" marL="0">
              <a:buNone/>
            </a:pPr>
            <a:r>
              <a:rPr lang="en-US" sz="1150" dirty="0">
                <a:solidFill>
                  <a:srgbClr val="8FA89B"/>
                </a:solidFill>
                <a:latin typeface="Calibri" pitchFamily="34" charset="0"/>
                <a:ea typeface="Calibri" pitchFamily="34" charset="-122"/>
                <a:cs typeface="Calibri" pitchFamily="34" charset="-120"/>
              </a:rPr>
              <a:t>No agentic reasoning layer; not tested on GCC disclosure.</a:t>
            </a:r>
            <a:endParaRPr lang="en-US" sz="1150" dirty="0"/>
          </a:p>
        </p:txBody>
      </p:sp>
      <p:sp>
        <p:nvSpPr>
          <p:cNvPr id="9" name="Shape 7"/>
          <p:cNvSpPr/>
          <p:nvPr/>
        </p:nvSpPr>
        <p:spPr>
          <a:xfrm>
            <a:off x="640080" y="2788920"/>
            <a:ext cx="7223760" cy="1078992"/>
          </a:xfrm>
          <a:prstGeom prst="roundRect">
            <a:avLst>
              <a:gd name="adj" fmla="val 7627"/>
            </a:avLst>
          </a:prstGeom>
          <a:solidFill>
            <a:srgbClr val="13291F"/>
          </a:solidFill>
          <a:ln w="12700">
            <a:solidFill>
              <a:srgbClr val="1E3B2E"/>
            </a:solidFill>
            <a:prstDash val="solid"/>
          </a:ln>
        </p:spPr>
        <p:txBody>
          <a:bodyPr/>
          <a:p/>
        </p:txBody>
      </p:sp>
      <p:sp>
        <p:nvSpPr>
          <p:cNvPr id="10" name="Text 8"/>
          <p:cNvSpPr/>
          <p:nvPr/>
        </p:nvSpPr>
        <p:spPr>
          <a:xfrm>
            <a:off x="868680" y="2898648"/>
            <a:ext cx="6766560" cy="365760"/>
          </a:xfrm>
          <a:prstGeom prst="rect">
            <a:avLst/>
          </a:prstGeom>
          <a:noFill/>
          <a:ln/>
        </p:spPr>
        <p:txBody>
          <a:bodyPr wrap="square" lIns="0" tIns="0" rIns="0" bIns="0" rtlCol="0" anchor="ctr"/>
          <a:lstStyle/>
          <a:p>
            <a:pPr indent="0" marL="0">
              <a:buNone/>
            </a:pPr>
            <a:r>
              <a:rPr lang="en-US" sz="1450" b="1" dirty="0">
                <a:solidFill>
                  <a:srgbClr val="6EE7B7"/>
                </a:solidFill>
                <a:latin typeface="Calibri" pitchFamily="34" charset="0"/>
                <a:ea typeface="Calibri" pitchFamily="34" charset="-122"/>
                <a:cs typeface="Calibri" pitchFamily="34" charset="-120"/>
              </a:rPr>
              <a:t>ReAct, Yao et al.</a:t>
            </a:r>
            <a:endParaRPr lang="en-US" sz="1450" dirty="0"/>
          </a:p>
        </p:txBody>
      </p:sp>
      <p:sp>
        <p:nvSpPr>
          <p:cNvPr id="11" name="Text 9"/>
          <p:cNvSpPr/>
          <p:nvPr/>
        </p:nvSpPr>
        <p:spPr>
          <a:xfrm>
            <a:off x="868680" y="3246120"/>
            <a:ext cx="6766560" cy="292608"/>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Gives: </a:t>
            </a:r>
            <a:pPr indent="0" marL="0">
              <a:buNone/>
            </a:pPr>
            <a:r>
              <a:rPr lang="en-US" sz="1150" dirty="0">
                <a:solidFill>
                  <a:srgbClr val="E9F6EF"/>
                </a:solidFill>
                <a:latin typeface="Calibri" pitchFamily="34" charset="0"/>
                <a:ea typeface="Calibri" pitchFamily="34" charset="-122"/>
                <a:cs typeface="Calibri" pitchFamily="34" charset="-120"/>
              </a:rPr>
              <a:t>Interleaves reasoning with tool calls; inspectable.</a:t>
            </a:r>
            <a:endParaRPr lang="en-US" sz="1150" dirty="0"/>
          </a:p>
        </p:txBody>
      </p:sp>
      <p:sp>
        <p:nvSpPr>
          <p:cNvPr id="12" name="Text 10"/>
          <p:cNvSpPr/>
          <p:nvPr/>
        </p:nvSpPr>
        <p:spPr>
          <a:xfrm>
            <a:off x="868680" y="3520440"/>
            <a:ext cx="6766560" cy="292608"/>
          </a:xfrm>
          <a:prstGeom prst="rect">
            <a:avLst/>
          </a:prstGeom>
          <a:noFill/>
          <a:ln/>
        </p:spPr>
        <p:txBody>
          <a:bodyPr wrap="square" lIns="0" tIns="0" rIns="0" bIns="0" rtlCol="0" anchor="ctr"/>
          <a:lstStyle/>
          <a:p>
            <a:pPr indent="0" marL="0">
              <a:buNone/>
            </a:pPr>
            <a:r>
              <a:rPr lang="en-US" sz="1150" b="1" dirty="0">
                <a:solidFill>
                  <a:srgbClr val="F0A868"/>
                </a:solidFill>
                <a:latin typeface="Calibri" pitchFamily="34" charset="0"/>
                <a:ea typeface="Calibri" pitchFamily="34" charset="-122"/>
                <a:cs typeface="Calibri" pitchFamily="34" charset="-120"/>
              </a:rPr>
              <a:t>Missing: </a:t>
            </a:r>
            <a:pPr indent="0" marL="0">
              <a:buNone/>
            </a:pPr>
            <a:r>
              <a:rPr lang="en-US" sz="1150" dirty="0">
                <a:solidFill>
                  <a:srgbClr val="8FA89B"/>
                </a:solidFill>
                <a:latin typeface="Calibri" pitchFamily="34" charset="0"/>
                <a:ea typeface="Calibri" pitchFamily="34" charset="-122"/>
                <a:cs typeface="Calibri" pitchFamily="34" charset="-120"/>
              </a:rPr>
              <a:t>General purpose; not specialised to or grounded in filings.</a:t>
            </a:r>
            <a:endParaRPr lang="en-US" sz="1150" dirty="0"/>
          </a:p>
        </p:txBody>
      </p:sp>
      <p:sp>
        <p:nvSpPr>
          <p:cNvPr id="13" name="Shape 11"/>
          <p:cNvSpPr/>
          <p:nvPr/>
        </p:nvSpPr>
        <p:spPr>
          <a:xfrm>
            <a:off x="640080" y="4023360"/>
            <a:ext cx="7223760" cy="1078992"/>
          </a:xfrm>
          <a:prstGeom prst="roundRect">
            <a:avLst>
              <a:gd name="adj" fmla="val 7627"/>
            </a:avLst>
          </a:prstGeom>
          <a:solidFill>
            <a:srgbClr val="13291F"/>
          </a:solidFill>
          <a:ln w="12700">
            <a:solidFill>
              <a:srgbClr val="1E3B2E"/>
            </a:solidFill>
            <a:prstDash val="solid"/>
          </a:ln>
        </p:spPr>
        <p:txBody>
          <a:bodyPr/>
          <a:p/>
        </p:txBody>
      </p:sp>
      <p:sp>
        <p:nvSpPr>
          <p:cNvPr id="14" name="Text 12"/>
          <p:cNvSpPr/>
          <p:nvPr/>
        </p:nvSpPr>
        <p:spPr>
          <a:xfrm>
            <a:off x="868680" y="4133088"/>
            <a:ext cx="6766560" cy="365760"/>
          </a:xfrm>
          <a:prstGeom prst="rect">
            <a:avLst/>
          </a:prstGeom>
          <a:noFill/>
          <a:ln/>
        </p:spPr>
        <p:txBody>
          <a:bodyPr wrap="square" lIns="0" tIns="0" rIns="0" bIns="0" rtlCol="0" anchor="ctr"/>
          <a:lstStyle/>
          <a:p>
            <a:pPr indent="0" marL="0">
              <a:buNone/>
            </a:pPr>
            <a:r>
              <a:rPr lang="en-US" sz="1450" b="1" dirty="0">
                <a:solidFill>
                  <a:srgbClr val="6EE7B7"/>
                </a:solidFill>
                <a:latin typeface="Calibri" pitchFamily="34" charset="0"/>
                <a:ea typeface="Calibri" pitchFamily="34" charset="-122"/>
                <a:cs typeface="Calibri" pitchFamily="34" charset="-120"/>
              </a:rPr>
              <a:t>XAI in finance, Fritz Morgenthal; CFA Institute</a:t>
            </a:r>
            <a:endParaRPr lang="en-US" sz="1450" dirty="0"/>
          </a:p>
        </p:txBody>
      </p:sp>
      <p:sp>
        <p:nvSpPr>
          <p:cNvPr id="15" name="Text 13"/>
          <p:cNvSpPr/>
          <p:nvPr/>
        </p:nvSpPr>
        <p:spPr>
          <a:xfrm>
            <a:off x="868680" y="4480560"/>
            <a:ext cx="6766560" cy="292608"/>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Gives: </a:t>
            </a:r>
            <a:pPr indent="0" marL="0">
              <a:buNone/>
            </a:pPr>
            <a:r>
              <a:rPr lang="en-US" sz="1150" dirty="0">
                <a:solidFill>
                  <a:srgbClr val="E9F6EF"/>
                </a:solidFill>
                <a:latin typeface="Calibri" pitchFamily="34" charset="0"/>
                <a:ea typeface="Calibri" pitchFamily="34" charset="-122"/>
                <a:cs typeface="Calibri" pitchFamily="34" charset="-120"/>
              </a:rPr>
              <a:t>Argues explanations must suit boards and regulators.</a:t>
            </a:r>
            <a:endParaRPr lang="en-US" sz="1150" dirty="0"/>
          </a:p>
        </p:txBody>
      </p:sp>
      <p:sp>
        <p:nvSpPr>
          <p:cNvPr id="16" name="Text 14"/>
          <p:cNvSpPr/>
          <p:nvPr/>
        </p:nvSpPr>
        <p:spPr>
          <a:xfrm>
            <a:off x="868680" y="4754880"/>
            <a:ext cx="6766560" cy="292608"/>
          </a:xfrm>
          <a:prstGeom prst="rect">
            <a:avLst/>
          </a:prstGeom>
          <a:noFill/>
          <a:ln/>
        </p:spPr>
        <p:txBody>
          <a:bodyPr wrap="square" lIns="0" tIns="0" rIns="0" bIns="0" rtlCol="0" anchor="ctr"/>
          <a:lstStyle/>
          <a:p>
            <a:pPr indent="0" marL="0">
              <a:buNone/>
            </a:pPr>
            <a:r>
              <a:rPr lang="en-US" sz="1150" b="1" dirty="0">
                <a:solidFill>
                  <a:srgbClr val="F0A868"/>
                </a:solidFill>
                <a:latin typeface="Calibri" pitchFamily="34" charset="0"/>
                <a:ea typeface="Calibri" pitchFamily="34" charset="-122"/>
                <a:cs typeface="Calibri" pitchFamily="34" charset="-120"/>
              </a:rPr>
              <a:t>Missing: </a:t>
            </a:r>
            <a:pPr indent="0" marL="0">
              <a:buNone/>
            </a:pPr>
            <a:r>
              <a:rPr lang="en-US" sz="1150" dirty="0">
                <a:solidFill>
                  <a:srgbClr val="8FA89B"/>
                </a:solidFill>
                <a:latin typeface="Calibri" pitchFamily="34" charset="0"/>
                <a:ea typeface="Calibri" pitchFamily="34" charset="-122"/>
                <a:cs typeface="Calibri" pitchFamily="34" charset="-120"/>
              </a:rPr>
              <a:t>No evaluated end to end governance system.</a:t>
            </a:r>
            <a:endParaRPr lang="en-US" sz="1150" dirty="0"/>
          </a:p>
        </p:txBody>
      </p:sp>
      <p:sp>
        <p:nvSpPr>
          <p:cNvPr id="17" name="Shape 15"/>
          <p:cNvSpPr/>
          <p:nvPr/>
        </p:nvSpPr>
        <p:spPr>
          <a:xfrm>
            <a:off x="8092440" y="1554480"/>
            <a:ext cx="3429000" cy="3547872"/>
          </a:xfrm>
          <a:prstGeom prst="roundRect">
            <a:avLst>
              <a:gd name="adj" fmla="val 3200"/>
            </a:avLst>
          </a:prstGeom>
          <a:solidFill>
            <a:srgbClr val="10251B"/>
          </a:solidFill>
          <a:ln w="15875">
            <a:solidFill>
              <a:srgbClr val="34D399"/>
            </a:solidFill>
            <a:prstDash val="solid"/>
          </a:ln>
        </p:spPr>
        <p:txBody>
          <a:bodyPr/>
          <a:p/>
        </p:txBody>
      </p:sp>
      <p:sp>
        <p:nvSpPr>
          <p:cNvPr id="18" name="Text 16"/>
          <p:cNvSpPr/>
          <p:nvPr/>
        </p:nvSpPr>
        <p:spPr>
          <a:xfrm>
            <a:off x="8321040" y="1783080"/>
            <a:ext cx="3017520" cy="457200"/>
          </a:xfrm>
          <a:prstGeom prst="rect">
            <a:avLst/>
          </a:prstGeom>
          <a:noFill/>
          <a:ln/>
        </p:spPr>
        <p:txBody>
          <a:bodyPr wrap="square" lIns="0" tIns="0" rIns="0" bIns="0" rtlCol="0" anchor="ctr"/>
          <a:lstStyle/>
          <a:p>
            <a:pPr indent="0" marL="0">
              <a:buNone/>
            </a:pPr>
            <a:r>
              <a:rPr lang="en-US" sz="1800" b="1" dirty="0">
                <a:solidFill>
                  <a:srgbClr val="34D399"/>
                </a:solidFill>
                <a:latin typeface="Calibri" pitchFamily="34" charset="0"/>
                <a:ea typeface="Calibri" pitchFamily="34" charset="-122"/>
                <a:cs typeface="Calibri" pitchFamily="34" charset="-120"/>
              </a:rPr>
              <a:t>The gap</a:t>
            </a:r>
            <a:endParaRPr lang="en-US" sz="1800" dirty="0"/>
          </a:p>
        </p:txBody>
      </p:sp>
      <p:sp>
        <p:nvSpPr>
          <p:cNvPr id="19" name="Text 17"/>
          <p:cNvSpPr/>
          <p:nvPr/>
        </p:nvSpPr>
        <p:spPr>
          <a:xfrm>
            <a:off x="8321040" y="2331720"/>
            <a:ext cx="3017520" cy="265176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No prior system unifies hybrid retrieval, an agentic reasoning layer, and answer level explainability for governance, and then measures it on two markets. That intersection is this thesis.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METHODOLOGY OVERVIEW</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An offline index and an online agent</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07 / 16</a:t>
            </a:r>
            <a:endParaRPr lang="en-US" sz="900" dirty="0"/>
          </a:p>
        </p:txBody>
      </p:sp>
      <p:sp>
        <p:nvSpPr>
          <p:cNvPr id="5" name="Shape 3"/>
          <p:cNvSpPr/>
          <p:nvPr/>
        </p:nvSpPr>
        <p:spPr>
          <a:xfrm>
            <a:off x="6903720" y="1417320"/>
            <a:ext cx="4709160" cy="4983480"/>
          </a:xfrm>
          <a:prstGeom prst="roundRect">
            <a:avLst>
              <a:gd name="adj" fmla="val 1942"/>
            </a:avLst>
          </a:prstGeom>
          <a:solidFill>
            <a:srgbClr val="FFFFFF"/>
          </a:solidFill>
          <a:ln w="12700">
            <a:solidFill>
              <a:srgbClr val="1E3B2E"/>
            </a:solidFill>
            <a:prstDash val="solid"/>
          </a:ln>
        </p:spPr>
        <p:txBody>
          <a:bodyPr/>
          <a:p/>
        </p:txBody>
      </p:sp>
      <p:pic>
        <p:nvPicPr>
          <p:cNvPr id="6" name="Image 0" descr="/Users/hatemisa/Desktop/CyberBoard-AI/docs/figures/fig_architecture.png">    </p:cNvPr>
          <p:cNvPicPr>
            <a:picLocks noChangeAspect="1"/>
          </p:cNvPicPr>
          <p:nvPr/>
        </p:nvPicPr>
        <p:blipFill>
          <a:blip r:embed="rId1"/>
          <a:stretch>
            <a:fillRect/>
          </a:stretch>
        </p:blipFill>
        <p:spPr>
          <a:xfrm>
            <a:off x="7086600" y="1572768"/>
            <a:ext cx="4343400" cy="4663440"/>
          </a:xfrm>
          <a:prstGeom prst="rect">
            <a:avLst/>
          </a:prstGeom>
        </p:spPr>
      </p:pic>
      <p:sp>
        <p:nvSpPr>
          <p:cNvPr id="7" name="Text 4"/>
          <p:cNvSpPr/>
          <p:nvPr/>
        </p:nvSpPr>
        <p:spPr>
          <a:xfrm>
            <a:off x="640080" y="1691640"/>
            <a:ext cx="5852160" cy="411480"/>
          </a:xfrm>
          <a:prstGeom prst="rect">
            <a:avLst/>
          </a:prstGeom>
          <a:noFill/>
          <a:ln/>
        </p:spPr>
        <p:txBody>
          <a:bodyPr wrap="square" lIns="0" tIns="0" rIns="0" bIns="0" rtlCol="0" anchor="ctr"/>
          <a:lstStyle/>
          <a:p>
            <a:pPr indent="0" marL="0">
              <a:buNone/>
            </a:pPr>
            <a:r>
              <a:rPr lang="en-US" sz="1800" b="1" dirty="0">
                <a:solidFill>
                  <a:srgbClr val="34D399"/>
                </a:solidFill>
                <a:latin typeface="Calibri" pitchFamily="34" charset="0"/>
                <a:ea typeface="Calibri" pitchFamily="34" charset="-122"/>
                <a:cs typeface="Calibri" pitchFamily="34" charset="-120"/>
              </a:rPr>
              <a:t>Offline</a:t>
            </a:r>
            <a:endParaRPr lang="en-US" sz="1800" dirty="0"/>
          </a:p>
        </p:txBody>
      </p:sp>
      <p:sp>
        <p:nvSpPr>
          <p:cNvPr id="8" name="Text 5"/>
          <p:cNvSpPr/>
          <p:nvPr/>
        </p:nvSpPr>
        <p:spPr>
          <a:xfrm>
            <a:off x="640080" y="2148840"/>
            <a:ext cx="5943600" cy="1554480"/>
          </a:xfrm>
          <a:prstGeom prst="rect">
            <a:avLst/>
          </a:prstGeom>
          <a:noFill/>
          <a:ln/>
        </p:spPr>
        <p:txBody>
          <a:bodyPr wrap="square" lIns="0" tIns="0" rIns="0" bIns="0" rtlCol="0" anchor="t"/>
          <a:lstStyle/>
          <a:p>
            <a:pPr indent="0" marL="0">
              <a:lnSpc>
                <a:spcPct val="118000"/>
              </a:lnSpc>
              <a:buNone/>
            </a:pPr>
            <a:r>
              <a:rPr lang="en-US" sz="1500" dirty="0">
                <a:solidFill>
                  <a:srgbClr val="E9F6EF"/>
                </a:solidFill>
                <a:latin typeface="Calibri" pitchFamily="34" charset="0"/>
                <a:ea typeface="Calibri" pitchFamily="34" charset="-122"/>
                <a:cs typeface="Calibri" pitchFamily="34" charset="-120"/>
              </a:rPr>
              <a:t>Filings are ingested, parsed into named sections, chunked recursively, embedded with gemini embedding 001, and indexed in ChromaDB.</a:t>
            </a:r>
            <a:endParaRPr lang="en-US" sz="1500" dirty="0"/>
          </a:p>
        </p:txBody>
      </p:sp>
      <p:sp>
        <p:nvSpPr>
          <p:cNvPr id="9" name="Text 6"/>
          <p:cNvSpPr/>
          <p:nvPr/>
        </p:nvSpPr>
        <p:spPr>
          <a:xfrm>
            <a:off x="640080" y="3840480"/>
            <a:ext cx="5852160" cy="411480"/>
          </a:xfrm>
          <a:prstGeom prst="rect">
            <a:avLst/>
          </a:prstGeom>
          <a:noFill/>
          <a:ln/>
        </p:spPr>
        <p:txBody>
          <a:bodyPr wrap="square" lIns="0" tIns="0" rIns="0" bIns="0" rtlCol="0" anchor="ctr"/>
          <a:lstStyle/>
          <a:p>
            <a:pPr indent="0" marL="0">
              <a:buNone/>
            </a:pPr>
            <a:r>
              <a:rPr lang="en-US" sz="1800" b="1" dirty="0">
                <a:solidFill>
                  <a:srgbClr val="34D399"/>
                </a:solidFill>
                <a:latin typeface="Calibri" pitchFamily="34" charset="0"/>
                <a:ea typeface="Calibri" pitchFamily="34" charset="-122"/>
                <a:cs typeface="Calibri" pitchFamily="34" charset="-120"/>
              </a:rPr>
              <a:t>Online</a:t>
            </a:r>
            <a:endParaRPr lang="en-US" sz="1800" dirty="0"/>
          </a:p>
        </p:txBody>
      </p:sp>
      <p:sp>
        <p:nvSpPr>
          <p:cNvPr id="10" name="Text 7"/>
          <p:cNvSpPr/>
          <p:nvPr/>
        </p:nvSpPr>
        <p:spPr>
          <a:xfrm>
            <a:off x="640080" y="4297680"/>
            <a:ext cx="5943600" cy="1554480"/>
          </a:xfrm>
          <a:prstGeom prst="rect">
            <a:avLst/>
          </a:prstGeom>
          <a:noFill/>
          <a:ln/>
        </p:spPr>
        <p:txBody>
          <a:bodyPr wrap="square" lIns="0" tIns="0" rIns="0" bIns="0" rtlCol="0" anchor="t"/>
          <a:lstStyle/>
          <a:p>
            <a:pPr indent="0" marL="0">
              <a:lnSpc>
                <a:spcPct val="118000"/>
              </a:lnSpc>
              <a:buNone/>
            </a:pPr>
            <a:r>
              <a:rPr lang="en-US" sz="1500" dirty="0">
                <a:solidFill>
                  <a:srgbClr val="E9F6EF"/>
                </a:solidFill>
                <a:latin typeface="Calibri" pitchFamily="34" charset="0"/>
                <a:ea typeface="Calibri" pitchFamily="34" charset="-122"/>
                <a:cs typeface="Calibri" pitchFamily="34" charset="-120"/>
              </a:rPr>
              <a:t>A board query drives a ReAct agent that selects one of three tools, retrieves with hybrid search and reranking, and returns a grounded, cited answer.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DATA AND PRE PROCESSING</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Two corpora, one pipeline</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08 / 16</a:t>
            </a:r>
            <a:endParaRPr lang="en-US" sz="900" dirty="0"/>
          </a:p>
        </p:txBody>
      </p:sp>
      <p:sp>
        <p:nvSpPr>
          <p:cNvPr id="5" name="Shape 3"/>
          <p:cNvSpPr/>
          <p:nvPr/>
        </p:nvSpPr>
        <p:spPr>
          <a:xfrm>
            <a:off x="640080" y="1600200"/>
            <a:ext cx="5212080" cy="1234440"/>
          </a:xfrm>
          <a:prstGeom prst="roundRect">
            <a:avLst>
              <a:gd name="adj" fmla="val 7407"/>
            </a:avLst>
          </a:prstGeom>
          <a:solidFill>
            <a:srgbClr val="13291F"/>
          </a:solidFill>
          <a:ln w="12700">
            <a:solidFill>
              <a:srgbClr val="1E3B2E"/>
            </a:solidFill>
            <a:prstDash val="solid"/>
          </a:ln>
        </p:spPr>
        <p:txBody>
          <a:bodyPr/>
          <a:p/>
        </p:txBody>
      </p:sp>
      <p:sp>
        <p:nvSpPr>
          <p:cNvPr id="6" name="Text 4"/>
          <p:cNvSpPr/>
          <p:nvPr/>
        </p:nvSpPr>
        <p:spPr>
          <a:xfrm>
            <a:off x="822960" y="1691640"/>
            <a:ext cx="1920240" cy="1051560"/>
          </a:xfrm>
          <a:prstGeom prst="rect">
            <a:avLst/>
          </a:prstGeom>
          <a:noFill/>
          <a:ln/>
        </p:spPr>
        <p:txBody>
          <a:bodyPr wrap="square" lIns="0" tIns="0" rIns="0" bIns="0" rtlCol="0" anchor="ctr"/>
          <a:lstStyle/>
          <a:p>
            <a:pPr algn="ctr" indent="0" marL="0">
              <a:buNone/>
            </a:pPr>
            <a:r>
              <a:rPr lang="en-US" sz="3400" b="1" dirty="0">
                <a:solidFill>
                  <a:srgbClr val="34D399"/>
                </a:solidFill>
                <a:latin typeface="Calibri" pitchFamily="34" charset="0"/>
                <a:ea typeface="Calibri" pitchFamily="34" charset="-122"/>
                <a:cs typeface="Calibri" pitchFamily="34" charset="-120"/>
              </a:rPr>
              <a:t>116</a:t>
            </a:r>
            <a:endParaRPr lang="en-US" sz="3400" dirty="0"/>
          </a:p>
        </p:txBody>
      </p:sp>
      <p:sp>
        <p:nvSpPr>
          <p:cNvPr id="7" name="Text 5"/>
          <p:cNvSpPr/>
          <p:nvPr/>
        </p:nvSpPr>
        <p:spPr>
          <a:xfrm>
            <a:off x="2788920" y="1691640"/>
            <a:ext cx="2926080" cy="1051560"/>
          </a:xfrm>
          <a:prstGeom prst="rect">
            <a:avLst/>
          </a:prstGeom>
          <a:noFill/>
          <a:ln/>
        </p:spPr>
        <p:txBody>
          <a:bodyPr wrap="square" lIns="0" tIns="0" rIns="0" bIns="0" rtlCol="0" anchor="ctr"/>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US SEC filings, 10 K and 10 Q, 20 companies</a:t>
            </a:r>
            <a:endParaRPr lang="en-US" sz="1350" dirty="0"/>
          </a:p>
        </p:txBody>
      </p:sp>
      <p:sp>
        <p:nvSpPr>
          <p:cNvPr id="8" name="Shape 6"/>
          <p:cNvSpPr/>
          <p:nvPr/>
        </p:nvSpPr>
        <p:spPr>
          <a:xfrm>
            <a:off x="6126480" y="1600200"/>
            <a:ext cx="5212080" cy="1234440"/>
          </a:xfrm>
          <a:prstGeom prst="roundRect">
            <a:avLst>
              <a:gd name="adj" fmla="val 7407"/>
            </a:avLst>
          </a:prstGeom>
          <a:solidFill>
            <a:srgbClr val="13291F"/>
          </a:solidFill>
          <a:ln w="12700">
            <a:solidFill>
              <a:srgbClr val="1E3B2E"/>
            </a:solidFill>
            <a:prstDash val="solid"/>
          </a:ln>
        </p:spPr>
        <p:txBody>
          <a:bodyPr/>
          <a:p/>
        </p:txBody>
      </p:sp>
      <p:sp>
        <p:nvSpPr>
          <p:cNvPr id="9" name="Text 7"/>
          <p:cNvSpPr/>
          <p:nvPr/>
        </p:nvSpPr>
        <p:spPr>
          <a:xfrm>
            <a:off x="6309360" y="1691640"/>
            <a:ext cx="1920240" cy="1051560"/>
          </a:xfrm>
          <a:prstGeom prst="rect">
            <a:avLst/>
          </a:prstGeom>
          <a:noFill/>
          <a:ln/>
        </p:spPr>
        <p:txBody>
          <a:bodyPr wrap="square" lIns="0" tIns="0" rIns="0" bIns="0" rtlCol="0" anchor="ctr"/>
          <a:lstStyle/>
          <a:p>
            <a:pPr algn="ctr" indent="0" marL="0">
              <a:buNone/>
            </a:pPr>
            <a:r>
              <a:rPr lang="en-US" sz="3400" b="1" dirty="0">
                <a:solidFill>
                  <a:srgbClr val="34D399"/>
                </a:solidFill>
                <a:latin typeface="Calibri" pitchFamily="34" charset="0"/>
                <a:ea typeface="Calibri" pitchFamily="34" charset="-122"/>
                <a:cs typeface="Calibri" pitchFamily="34" charset="-120"/>
              </a:rPr>
              <a:t>18,136</a:t>
            </a:r>
            <a:endParaRPr lang="en-US" sz="3400" dirty="0"/>
          </a:p>
        </p:txBody>
      </p:sp>
      <p:sp>
        <p:nvSpPr>
          <p:cNvPr id="10" name="Text 8"/>
          <p:cNvSpPr/>
          <p:nvPr/>
        </p:nvSpPr>
        <p:spPr>
          <a:xfrm>
            <a:off x="8275320" y="1691640"/>
            <a:ext cx="2926080" cy="1051560"/>
          </a:xfrm>
          <a:prstGeom prst="rect">
            <a:avLst/>
          </a:prstGeom>
          <a:noFill/>
          <a:ln/>
        </p:spPr>
        <p:txBody>
          <a:bodyPr wrap="square" lIns="0" tIns="0" rIns="0" bIns="0" rtlCol="0" anchor="ctr"/>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US chunks embedded at 1536 dimensions</a:t>
            </a:r>
            <a:endParaRPr lang="en-US" sz="1350" dirty="0"/>
          </a:p>
        </p:txBody>
      </p:sp>
      <p:sp>
        <p:nvSpPr>
          <p:cNvPr id="11" name="Shape 9"/>
          <p:cNvSpPr/>
          <p:nvPr/>
        </p:nvSpPr>
        <p:spPr>
          <a:xfrm>
            <a:off x="640080" y="3017520"/>
            <a:ext cx="5212080" cy="1234440"/>
          </a:xfrm>
          <a:prstGeom prst="roundRect">
            <a:avLst>
              <a:gd name="adj" fmla="val 7407"/>
            </a:avLst>
          </a:prstGeom>
          <a:solidFill>
            <a:srgbClr val="13291F"/>
          </a:solidFill>
          <a:ln w="12700">
            <a:solidFill>
              <a:srgbClr val="1E3B2E"/>
            </a:solidFill>
            <a:prstDash val="solid"/>
          </a:ln>
        </p:spPr>
        <p:txBody>
          <a:bodyPr/>
          <a:p/>
        </p:txBody>
      </p:sp>
      <p:sp>
        <p:nvSpPr>
          <p:cNvPr id="12" name="Text 10"/>
          <p:cNvSpPr/>
          <p:nvPr/>
        </p:nvSpPr>
        <p:spPr>
          <a:xfrm>
            <a:off x="822960" y="3108960"/>
            <a:ext cx="1920240" cy="1051560"/>
          </a:xfrm>
          <a:prstGeom prst="rect">
            <a:avLst/>
          </a:prstGeom>
          <a:noFill/>
          <a:ln/>
        </p:spPr>
        <p:txBody>
          <a:bodyPr wrap="square" lIns="0" tIns="0" rIns="0" bIns="0" rtlCol="0" anchor="ctr"/>
          <a:lstStyle/>
          <a:p>
            <a:pPr algn="ctr" indent="0" marL="0">
              <a:buNone/>
            </a:pPr>
            <a:r>
              <a:rPr lang="en-US" sz="3400" b="1" dirty="0">
                <a:solidFill>
                  <a:srgbClr val="34D399"/>
                </a:solidFill>
                <a:latin typeface="Calibri" pitchFamily="34" charset="0"/>
                <a:ea typeface="Calibri" pitchFamily="34" charset="-122"/>
                <a:cs typeface="Calibri" pitchFamily="34" charset="-120"/>
              </a:rPr>
              <a:t>7</a:t>
            </a:r>
            <a:endParaRPr lang="en-US" sz="3400" dirty="0"/>
          </a:p>
        </p:txBody>
      </p:sp>
      <p:sp>
        <p:nvSpPr>
          <p:cNvPr id="13" name="Text 11"/>
          <p:cNvSpPr/>
          <p:nvPr/>
        </p:nvSpPr>
        <p:spPr>
          <a:xfrm>
            <a:off x="2788920" y="3108960"/>
            <a:ext cx="2926080" cy="1051560"/>
          </a:xfrm>
          <a:prstGeom prst="rect">
            <a:avLst/>
          </a:prstGeom>
          <a:noFill/>
          <a:ln/>
        </p:spPr>
        <p:txBody>
          <a:bodyPr wrap="square" lIns="0" tIns="0" rIns="0" bIns="0" rtlCol="0" anchor="ctr"/>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Bahrain Bourse company reports, GCC market</a:t>
            </a:r>
            <a:endParaRPr lang="en-US" sz="1350" dirty="0"/>
          </a:p>
        </p:txBody>
      </p:sp>
      <p:sp>
        <p:nvSpPr>
          <p:cNvPr id="14" name="Shape 12"/>
          <p:cNvSpPr/>
          <p:nvPr/>
        </p:nvSpPr>
        <p:spPr>
          <a:xfrm>
            <a:off x="6126480" y="3017520"/>
            <a:ext cx="5212080" cy="1234440"/>
          </a:xfrm>
          <a:prstGeom prst="roundRect">
            <a:avLst>
              <a:gd name="adj" fmla="val 7407"/>
            </a:avLst>
          </a:prstGeom>
          <a:solidFill>
            <a:srgbClr val="13291F"/>
          </a:solidFill>
          <a:ln w="12700">
            <a:solidFill>
              <a:srgbClr val="1E3B2E"/>
            </a:solidFill>
            <a:prstDash val="solid"/>
          </a:ln>
        </p:spPr>
        <p:txBody>
          <a:bodyPr/>
          <a:p/>
        </p:txBody>
      </p:sp>
      <p:sp>
        <p:nvSpPr>
          <p:cNvPr id="15" name="Text 13"/>
          <p:cNvSpPr/>
          <p:nvPr/>
        </p:nvSpPr>
        <p:spPr>
          <a:xfrm>
            <a:off x="6309360" y="3108960"/>
            <a:ext cx="1920240" cy="1051560"/>
          </a:xfrm>
          <a:prstGeom prst="rect">
            <a:avLst/>
          </a:prstGeom>
          <a:noFill/>
          <a:ln/>
        </p:spPr>
        <p:txBody>
          <a:bodyPr wrap="square" lIns="0" tIns="0" rIns="0" bIns="0" rtlCol="0" anchor="ctr"/>
          <a:lstStyle/>
          <a:p>
            <a:pPr algn="ctr" indent="0" marL="0">
              <a:buNone/>
            </a:pPr>
            <a:r>
              <a:rPr lang="en-US" sz="3400" b="1" dirty="0">
                <a:solidFill>
                  <a:srgbClr val="34D399"/>
                </a:solidFill>
                <a:latin typeface="Calibri" pitchFamily="34" charset="0"/>
                <a:ea typeface="Calibri" pitchFamily="34" charset="-122"/>
                <a:cs typeface="Calibri" pitchFamily="34" charset="-120"/>
              </a:rPr>
              <a:t>845</a:t>
            </a:r>
            <a:endParaRPr lang="en-US" sz="3400" dirty="0"/>
          </a:p>
        </p:txBody>
      </p:sp>
      <p:sp>
        <p:nvSpPr>
          <p:cNvPr id="16" name="Text 14"/>
          <p:cNvSpPr/>
          <p:nvPr/>
        </p:nvSpPr>
        <p:spPr>
          <a:xfrm>
            <a:off x="8275320" y="3108960"/>
            <a:ext cx="2926080" cy="1051560"/>
          </a:xfrm>
          <a:prstGeom prst="rect">
            <a:avLst/>
          </a:prstGeom>
          <a:noFill/>
          <a:ln/>
        </p:spPr>
        <p:txBody>
          <a:bodyPr wrap="square" lIns="0" tIns="0" rIns="0" bIns="0" rtlCol="0" anchor="ctr"/>
          <a:lstStyle/>
          <a:p>
            <a:pPr indent="0" marL="0">
              <a:lnSpc>
                <a:spcPct val="110000"/>
              </a:lnSpc>
              <a:buNone/>
            </a:pPr>
            <a:r>
              <a:rPr lang="en-US" sz="1350" dirty="0">
                <a:solidFill>
                  <a:srgbClr val="E9F6EF"/>
                </a:solidFill>
                <a:latin typeface="Calibri" pitchFamily="34" charset="0"/>
                <a:ea typeface="Calibri" pitchFamily="34" charset="-122"/>
                <a:cs typeface="Calibri" pitchFamily="34" charset="-120"/>
              </a:rPr>
              <a:t>GCC chunks in the same index</a:t>
            </a:r>
            <a:endParaRPr lang="en-US" sz="1350" dirty="0"/>
          </a:p>
        </p:txBody>
      </p:sp>
      <p:sp>
        <p:nvSpPr>
          <p:cNvPr id="17" name="Text 15"/>
          <p:cNvSpPr/>
          <p:nvPr/>
        </p:nvSpPr>
        <p:spPr>
          <a:xfrm>
            <a:off x="640080" y="4572000"/>
            <a:ext cx="10881360" cy="1280160"/>
          </a:xfrm>
          <a:prstGeom prst="rect">
            <a:avLst/>
          </a:prstGeom>
          <a:noFill/>
          <a:ln/>
        </p:spPr>
        <p:txBody>
          <a:bodyPr wrap="square" lIns="0" tIns="0" rIns="0" bIns="0" rtlCol="0" anchor="t"/>
          <a:lstStyle/>
          <a:p>
            <a:pPr indent="0" marL="0">
              <a:lnSpc>
                <a:spcPct val="120000"/>
              </a:lnSpc>
              <a:buNone/>
            </a:pPr>
            <a:r>
              <a:rPr lang="en-US" sz="1400" b="1" dirty="0">
                <a:solidFill>
                  <a:srgbClr val="6EE7B7"/>
                </a:solidFill>
                <a:latin typeface="Calibri" pitchFamily="34" charset="0"/>
                <a:ea typeface="Calibri" pitchFamily="34" charset="-122"/>
                <a:cs typeface="Calibri" pitchFamily="34" charset="-120"/>
              </a:rPr>
              <a:t>Chunking  </a:t>
            </a:r>
            <a:pPr indent="0" marL="0">
              <a:lnSpc>
                <a:spcPct val="120000"/>
              </a:lnSpc>
              <a:buNone/>
            </a:pPr>
            <a:r>
              <a:rPr lang="en-US" sz="1400" dirty="0">
                <a:solidFill>
                  <a:srgbClr val="E9F6EF"/>
                </a:solidFill>
                <a:latin typeface="Calibri" pitchFamily="34" charset="0"/>
                <a:ea typeface="Calibri" pitchFamily="34" charset="-122"/>
                <a:cs typeface="Calibri" pitchFamily="34" charset="-120"/>
              </a:rPr>
              <a:t>512 tokens with 64 overlap, split by regulatory section.     </a:t>
            </a:r>
            <a:pPr indent="0" marL="0">
              <a:lnSpc>
                <a:spcPct val="120000"/>
              </a:lnSpc>
              <a:buNone/>
            </a:pPr>
            <a:r>
              <a:rPr lang="en-US" sz="1400" b="1" dirty="0">
                <a:solidFill>
                  <a:srgbClr val="6EE7B7"/>
                </a:solidFill>
                <a:latin typeface="Calibri" pitchFamily="34" charset="0"/>
                <a:ea typeface="Calibri" pitchFamily="34" charset="-122"/>
                <a:cs typeface="Calibri" pitchFamily="34" charset="-120"/>
              </a:rPr>
              <a:t>Evaluation sets  </a:t>
            </a:r>
            <a:pPr indent="0" marL="0">
              <a:lnSpc>
                <a:spcPct val="120000"/>
              </a:lnSpc>
              <a:buNone/>
            </a:pPr>
            <a:r>
              <a:rPr lang="en-US" sz="1400" dirty="0">
                <a:solidFill>
                  <a:srgbClr val="E9F6EF"/>
                </a:solidFill>
                <a:latin typeface="Calibri" pitchFamily="34" charset="0"/>
                <a:ea typeface="Calibri" pitchFamily="34" charset="-122"/>
                <a:cs typeface="Calibri" pitchFamily="34" charset="-120"/>
              </a:rPr>
              <a:t>FinanceBench for US retrieval, 35 hand verified GCC questions, 19 recent US numerical questions.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PROPOSED APPROACH</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Hybrid retrieval, an agent, and a visible trace</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09 / 16</a:t>
            </a:r>
            <a:endParaRPr lang="en-US" sz="900" dirty="0"/>
          </a:p>
        </p:txBody>
      </p:sp>
      <p:sp>
        <p:nvSpPr>
          <p:cNvPr id="5" name="Shape 3"/>
          <p:cNvSpPr/>
          <p:nvPr/>
        </p:nvSpPr>
        <p:spPr>
          <a:xfrm>
            <a:off x="640080" y="1554480"/>
            <a:ext cx="5486400" cy="1298448"/>
          </a:xfrm>
          <a:prstGeom prst="roundRect">
            <a:avLst>
              <a:gd name="adj" fmla="val 7042"/>
            </a:avLst>
          </a:prstGeom>
          <a:solidFill>
            <a:srgbClr val="13291F"/>
          </a:solidFill>
          <a:ln w="12700">
            <a:solidFill>
              <a:srgbClr val="1E3B2E"/>
            </a:solidFill>
            <a:prstDash val="solid"/>
          </a:ln>
        </p:spPr>
        <p:txBody>
          <a:bodyPr/>
          <a:p/>
        </p:txBody>
      </p:sp>
      <p:sp>
        <p:nvSpPr>
          <p:cNvPr id="6" name="Shape 4"/>
          <p:cNvSpPr/>
          <p:nvPr/>
        </p:nvSpPr>
        <p:spPr>
          <a:xfrm>
            <a:off x="868680" y="1920240"/>
            <a:ext cx="566928" cy="566928"/>
          </a:xfrm>
          <a:prstGeom prst="ellipse">
            <a:avLst/>
          </a:prstGeom>
          <a:solidFill>
            <a:srgbClr val="163427"/>
          </a:solidFill>
          <a:ln w="15875">
            <a:solidFill>
              <a:srgbClr val="34D399"/>
            </a:solidFill>
            <a:prstDash val="solid"/>
          </a:ln>
        </p:spPr>
        <p:txBody>
          <a:bodyPr/>
          <a:p/>
        </p:txBody>
      </p:sp>
      <p:sp>
        <p:nvSpPr>
          <p:cNvPr id="7" name="Text 5"/>
          <p:cNvSpPr/>
          <p:nvPr/>
        </p:nvSpPr>
        <p:spPr>
          <a:xfrm>
            <a:off x="868680" y="1920240"/>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00200" y="1682496"/>
            <a:ext cx="4389120" cy="365760"/>
          </a:xfrm>
          <a:prstGeom prst="rect">
            <a:avLst/>
          </a:prstGeom>
          <a:noFill/>
          <a:ln/>
        </p:spPr>
        <p:txBody>
          <a:bodyPr wrap="square" lIns="0" tIns="0" rIns="0" bIns="0" rtlCol="0" anchor="ctr"/>
          <a:lstStyle/>
          <a:p>
            <a:pPr indent="0" marL="0">
              <a:buNone/>
            </a:pPr>
            <a:r>
              <a:rPr lang="en-US" sz="1550" b="1" dirty="0">
                <a:solidFill>
                  <a:srgbClr val="6EE7B7"/>
                </a:solidFill>
                <a:latin typeface="Calibri" pitchFamily="34" charset="0"/>
                <a:ea typeface="Calibri" pitchFamily="34" charset="-122"/>
                <a:cs typeface="Calibri" pitchFamily="34" charset="-120"/>
              </a:rPr>
              <a:t>Hybrid retrieval</a:t>
            </a:r>
            <a:endParaRPr lang="en-US" sz="1550" dirty="0"/>
          </a:p>
        </p:txBody>
      </p:sp>
      <p:sp>
        <p:nvSpPr>
          <p:cNvPr id="9" name="Text 7"/>
          <p:cNvSpPr/>
          <p:nvPr/>
        </p:nvSpPr>
        <p:spPr>
          <a:xfrm>
            <a:off x="1600200" y="2066544"/>
            <a:ext cx="4389120" cy="731520"/>
          </a:xfrm>
          <a:prstGeom prst="rect">
            <a:avLst/>
          </a:prstGeom>
          <a:noFill/>
          <a:ln/>
        </p:spPr>
        <p:txBody>
          <a:bodyPr wrap="square" lIns="0" tIns="0" rIns="0" bIns="0" rtlCol="0" anchor="t"/>
          <a:lstStyle/>
          <a:p>
            <a:pPr indent="0" marL="0">
              <a:lnSpc>
                <a:spcPct val="108000"/>
              </a:lnSpc>
              <a:buNone/>
            </a:pPr>
            <a:r>
              <a:rPr lang="en-US" sz="1250" dirty="0">
                <a:solidFill>
                  <a:srgbClr val="E9F6EF"/>
                </a:solidFill>
                <a:latin typeface="Calibri" pitchFamily="34" charset="0"/>
                <a:ea typeface="Calibri" pitchFamily="34" charset="-122"/>
                <a:cs typeface="Calibri" pitchFamily="34" charset="-120"/>
              </a:rPr>
              <a:t>BM25 sparse and dense vectors fused 0.7 to 0.3, then a cross encoder reranker.</a:t>
            </a:r>
            <a:endParaRPr lang="en-US" sz="1250" dirty="0"/>
          </a:p>
        </p:txBody>
      </p:sp>
      <p:sp>
        <p:nvSpPr>
          <p:cNvPr id="10" name="Shape 8"/>
          <p:cNvSpPr/>
          <p:nvPr/>
        </p:nvSpPr>
        <p:spPr>
          <a:xfrm>
            <a:off x="640080" y="3035808"/>
            <a:ext cx="5486400" cy="1298448"/>
          </a:xfrm>
          <a:prstGeom prst="roundRect">
            <a:avLst>
              <a:gd name="adj" fmla="val 7042"/>
            </a:avLst>
          </a:prstGeom>
          <a:solidFill>
            <a:srgbClr val="13291F"/>
          </a:solidFill>
          <a:ln w="12700">
            <a:solidFill>
              <a:srgbClr val="1E3B2E"/>
            </a:solidFill>
            <a:prstDash val="solid"/>
          </a:ln>
        </p:spPr>
        <p:txBody>
          <a:bodyPr/>
          <a:p/>
        </p:txBody>
      </p:sp>
      <p:sp>
        <p:nvSpPr>
          <p:cNvPr id="11" name="Shape 9"/>
          <p:cNvSpPr/>
          <p:nvPr/>
        </p:nvSpPr>
        <p:spPr>
          <a:xfrm>
            <a:off x="868680" y="3401568"/>
            <a:ext cx="566928" cy="566928"/>
          </a:xfrm>
          <a:prstGeom prst="ellipse">
            <a:avLst/>
          </a:prstGeom>
          <a:solidFill>
            <a:srgbClr val="163427"/>
          </a:solidFill>
          <a:ln w="15875">
            <a:solidFill>
              <a:srgbClr val="34D399"/>
            </a:solidFill>
            <a:prstDash val="solid"/>
          </a:ln>
        </p:spPr>
        <p:txBody>
          <a:bodyPr/>
          <a:p/>
        </p:txBody>
      </p:sp>
      <p:sp>
        <p:nvSpPr>
          <p:cNvPr id="12" name="Text 10"/>
          <p:cNvSpPr/>
          <p:nvPr/>
        </p:nvSpPr>
        <p:spPr>
          <a:xfrm>
            <a:off x="868680" y="3401568"/>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600200" y="3163824"/>
            <a:ext cx="4389120" cy="365760"/>
          </a:xfrm>
          <a:prstGeom prst="rect">
            <a:avLst/>
          </a:prstGeom>
          <a:noFill/>
          <a:ln/>
        </p:spPr>
        <p:txBody>
          <a:bodyPr wrap="square" lIns="0" tIns="0" rIns="0" bIns="0" rtlCol="0" anchor="ctr"/>
          <a:lstStyle/>
          <a:p>
            <a:pPr indent="0" marL="0">
              <a:buNone/>
            </a:pPr>
            <a:r>
              <a:rPr lang="en-US" sz="1550" b="1" dirty="0">
                <a:solidFill>
                  <a:srgbClr val="6EE7B7"/>
                </a:solidFill>
                <a:latin typeface="Calibri" pitchFamily="34" charset="0"/>
                <a:ea typeface="Calibri" pitchFamily="34" charset="-122"/>
                <a:cs typeface="Calibri" pitchFamily="34" charset="-120"/>
              </a:rPr>
              <a:t>ReAct agent, three tools</a:t>
            </a:r>
            <a:endParaRPr lang="en-US" sz="1550" dirty="0"/>
          </a:p>
        </p:txBody>
      </p:sp>
      <p:sp>
        <p:nvSpPr>
          <p:cNvPr id="14" name="Text 12"/>
          <p:cNvSpPr/>
          <p:nvPr/>
        </p:nvSpPr>
        <p:spPr>
          <a:xfrm>
            <a:off x="1600200" y="3547872"/>
            <a:ext cx="4389120" cy="731520"/>
          </a:xfrm>
          <a:prstGeom prst="rect">
            <a:avLst/>
          </a:prstGeom>
          <a:noFill/>
          <a:ln/>
        </p:spPr>
        <p:txBody>
          <a:bodyPr wrap="square" lIns="0" tIns="0" rIns="0" bIns="0" rtlCol="0" anchor="t"/>
          <a:lstStyle/>
          <a:p>
            <a:pPr indent="0" marL="0">
              <a:lnSpc>
                <a:spcPct val="108000"/>
              </a:lnSpc>
              <a:buNone/>
            </a:pPr>
            <a:r>
              <a:rPr lang="en-US" sz="1250" dirty="0">
                <a:solidFill>
                  <a:srgbClr val="E9F6EF"/>
                </a:solidFill>
                <a:latin typeface="Calibri" pitchFamily="34" charset="0"/>
                <a:ea typeface="Calibri" pitchFamily="34" charset="-122"/>
                <a:cs typeface="Calibri" pitchFamily="34" charset="-120"/>
              </a:rPr>
              <a:t>financial summarizer, risk identifier, compliance checker, selected per question.</a:t>
            </a:r>
            <a:endParaRPr lang="en-US" sz="1250" dirty="0"/>
          </a:p>
        </p:txBody>
      </p:sp>
      <p:sp>
        <p:nvSpPr>
          <p:cNvPr id="15" name="Shape 13"/>
          <p:cNvSpPr/>
          <p:nvPr/>
        </p:nvSpPr>
        <p:spPr>
          <a:xfrm>
            <a:off x="640080" y="4517136"/>
            <a:ext cx="5486400" cy="1298448"/>
          </a:xfrm>
          <a:prstGeom prst="roundRect">
            <a:avLst>
              <a:gd name="adj" fmla="val 7042"/>
            </a:avLst>
          </a:prstGeom>
          <a:solidFill>
            <a:srgbClr val="13291F"/>
          </a:solidFill>
          <a:ln w="12700">
            <a:solidFill>
              <a:srgbClr val="1E3B2E"/>
            </a:solidFill>
            <a:prstDash val="solid"/>
          </a:ln>
        </p:spPr>
        <p:txBody>
          <a:bodyPr/>
          <a:p/>
        </p:txBody>
      </p:sp>
      <p:sp>
        <p:nvSpPr>
          <p:cNvPr id="16" name="Shape 14"/>
          <p:cNvSpPr/>
          <p:nvPr/>
        </p:nvSpPr>
        <p:spPr>
          <a:xfrm>
            <a:off x="868680" y="4882896"/>
            <a:ext cx="566928" cy="566928"/>
          </a:xfrm>
          <a:prstGeom prst="ellipse">
            <a:avLst/>
          </a:prstGeom>
          <a:solidFill>
            <a:srgbClr val="163427"/>
          </a:solidFill>
          <a:ln w="15875">
            <a:solidFill>
              <a:srgbClr val="34D399"/>
            </a:solidFill>
            <a:prstDash val="solid"/>
          </a:ln>
        </p:spPr>
        <p:txBody>
          <a:bodyPr/>
          <a:p/>
        </p:txBody>
      </p:sp>
      <p:sp>
        <p:nvSpPr>
          <p:cNvPr id="17" name="Text 15"/>
          <p:cNvSpPr/>
          <p:nvPr/>
        </p:nvSpPr>
        <p:spPr>
          <a:xfrm>
            <a:off x="868680" y="4882896"/>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00200" y="4645152"/>
            <a:ext cx="4389120" cy="365760"/>
          </a:xfrm>
          <a:prstGeom prst="rect">
            <a:avLst/>
          </a:prstGeom>
          <a:noFill/>
          <a:ln/>
        </p:spPr>
        <p:txBody>
          <a:bodyPr wrap="square" lIns="0" tIns="0" rIns="0" bIns="0" rtlCol="0" anchor="ctr"/>
          <a:lstStyle/>
          <a:p>
            <a:pPr indent="0" marL="0">
              <a:buNone/>
            </a:pPr>
            <a:r>
              <a:rPr lang="en-US" sz="1550" b="1" dirty="0">
                <a:solidFill>
                  <a:srgbClr val="6EE7B7"/>
                </a:solidFill>
                <a:latin typeface="Calibri" pitchFamily="34" charset="0"/>
                <a:ea typeface="Calibri" pitchFamily="34" charset="-122"/>
                <a:cs typeface="Calibri" pitchFamily="34" charset="-120"/>
              </a:rPr>
              <a:t>Explainability</a:t>
            </a:r>
            <a:endParaRPr lang="en-US" sz="1550" dirty="0"/>
          </a:p>
        </p:txBody>
      </p:sp>
      <p:sp>
        <p:nvSpPr>
          <p:cNvPr id="19" name="Text 17"/>
          <p:cNvSpPr/>
          <p:nvPr/>
        </p:nvSpPr>
        <p:spPr>
          <a:xfrm>
            <a:off x="1600200" y="5029200"/>
            <a:ext cx="4389120" cy="731520"/>
          </a:xfrm>
          <a:prstGeom prst="rect">
            <a:avLst/>
          </a:prstGeom>
          <a:noFill/>
          <a:ln/>
        </p:spPr>
        <p:txBody>
          <a:bodyPr wrap="square" lIns="0" tIns="0" rIns="0" bIns="0" rtlCol="0" anchor="t"/>
          <a:lstStyle/>
          <a:p>
            <a:pPr indent="0" marL="0">
              <a:lnSpc>
                <a:spcPct val="108000"/>
              </a:lnSpc>
              <a:buNone/>
            </a:pPr>
            <a:r>
              <a:rPr lang="en-US" sz="1250" dirty="0">
                <a:solidFill>
                  <a:srgbClr val="E9F6EF"/>
                </a:solidFill>
                <a:latin typeface="Calibri" pitchFamily="34" charset="0"/>
                <a:ea typeface="Calibri" pitchFamily="34" charset="-122"/>
                <a:cs typeface="Calibri" pitchFamily="34" charset="-120"/>
              </a:rPr>
              <a:t>source, filing, section, and a confidence score on every answer, with a full reasoning trace.</a:t>
            </a:r>
            <a:endParaRPr lang="en-US" sz="1250" dirty="0"/>
          </a:p>
        </p:txBody>
      </p:sp>
      <p:sp>
        <p:nvSpPr>
          <p:cNvPr id="20" name="Shape 18"/>
          <p:cNvSpPr/>
          <p:nvPr/>
        </p:nvSpPr>
        <p:spPr>
          <a:xfrm>
            <a:off x="6400800" y="1463040"/>
            <a:ext cx="5212080" cy="4892040"/>
          </a:xfrm>
          <a:prstGeom prst="roundRect">
            <a:avLst>
              <a:gd name="adj" fmla="val 1869"/>
            </a:avLst>
          </a:prstGeom>
          <a:solidFill>
            <a:srgbClr val="041008"/>
          </a:solidFill>
          <a:ln w="12700">
            <a:solidFill>
              <a:srgbClr val="1E3B2E"/>
            </a:solidFill>
            <a:prstDash val="solid"/>
          </a:ln>
        </p:spPr>
        <p:txBody>
          <a:bodyPr/>
          <a:p/>
        </p:txBody>
      </p:sp>
      <p:pic>
        <p:nvPicPr>
          <p:cNvPr id="21" name="Image 0" descr="/Users/hatemisa/Desktop/CyberBoard-AI/docs/figures/fig_dashboard_trace.png">    </p:cNvPr>
          <p:cNvPicPr>
            <a:picLocks noChangeAspect="1"/>
          </p:cNvPicPr>
          <p:nvPr/>
        </p:nvPicPr>
        <p:blipFill>
          <a:blip r:embed="rId1"/>
          <a:stretch>
            <a:fillRect/>
          </a:stretch>
        </p:blipFill>
        <p:spPr>
          <a:xfrm>
            <a:off x="6583680" y="1627632"/>
            <a:ext cx="4864608" cy="4572000"/>
          </a:xfrm>
          <a:prstGeom prst="rect">
            <a:avLst/>
          </a:prstGeom>
        </p:spPr>
      </p:pic>
      <p:sp>
        <p:nvSpPr>
          <p:cNvPr id="22" name="Text 19"/>
          <p:cNvSpPr/>
          <p:nvPr/>
        </p:nvSpPr>
        <p:spPr>
          <a:xfrm>
            <a:off x="6400800" y="6355080"/>
            <a:ext cx="5212080" cy="274320"/>
          </a:xfrm>
          <a:prstGeom prst="rect">
            <a:avLst/>
          </a:prstGeom>
          <a:noFill/>
          <a:ln/>
        </p:spPr>
        <p:txBody>
          <a:bodyPr wrap="square" lIns="0" tIns="0" rIns="0" bIns="0" rtlCol="0" anchor="ctr"/>
          <a:lstStyle/>
          <a:p>
            <a:pPr algn="ctr" indent="0" marL="0">
              <a:buNone/>
            </a:pPr>
            <a:r>
              <a:rPr lang="en-US" sz="1000" i="1" dirty="0">
                <a:solidFill>
                  <a:srgbClr val="8FA89B"/>
                </a:solidFill>
                <a:latin typeface="Calibri" pitchFamily="34" charset="0"/>
                <a:ea typeface="Calibri" pitchFamily="34" charset="-122"/>
                <a:cs typeface="Calibri" pitchFamily="34" charset="-120"/>
              </a:rPr>
              <a:t>The retrieval reasoning trace, exposed in the dashboard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EXPERIMENTAL SETUP</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Paired baselines and a validated judge</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10 / 16</a:t>
            </a:r>
            <a:endParaRPr lang="en-US" sz="900" dirty="0"/>
          </a:p>
        </p:txBody>
      </p:sp>
      <p:sp>
        <p:nvSpPr>
          <p:cNvPr id="5" name="Shape 3"/>
          <p:cNvSpPr/>
          <p:nvPr/>
        </p:nvSpPr>
        <p:spPr>
          <a:xfrm>
            <a:off x="640080" y="1600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6" name="Text 4"/>
          <p:cNvSpPr/>
          <p:nvPr/>
        </p:nvSpPr>
        <p:spPr>
          <a:xfrm>
            <a:off x="896112" y="1783080"/>
            <a:ext cx="4663440" cy="411480"/>
          </a:xfrm>
          <a:prstGeom prst="rect">
            <a:avLst/>
          </a:prstGeom>
          <a:noFill/>
          <a:ln/>
        </p:spPr>
        <p:txBody>
          <a:bodyPr wrap="square" lIns="0" tIns="0" rIns="0" bIns="0" rtlCol="0" anchor="ctr"/>
          <a:lstStyle/>
          <a:p>
            <a:pPr indent="0" marL="0">
              <a:buNone/>
            </a:pPr>
            <a:r>
              <a:rPr lang="en-US" sz="1700" b="1" dirty="0">
                <a:solidFill>
                  <a:srgbClr val="34D399"/>
                </a:solidFill>
                <a:latin typeface="Calibri" pitchFamily="34" charset="0"/>
                <a:ea typeface="Calibri" pitchFamily="34" charset="-122"/>
                <a:cs typeface="Calibri" pitchFamily="34" charset="-120"/>
              </a:rPr>
              <a:t>Baselines</a:t>
            </a:r>
            <a:endParaRPr lang="en-US" sz="1700" dirty="0"/>
          </a:p>
        </p:txBody>
      </p:sp>
      <p:sp>
        <p:nvSpPr>
          <p:cNvPr id="7" name="Text 5"/>
          <p:cNvSpPr/>
          <p:nvPr/>
        </p:nvSpPr>
        <p:spPr>
          <a:xfrm>
            <a:off x="896112" y="2258568"/>
            <a:ext cx="4709160" cy="128016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Closed book, no retrieval. Single pass naive RAG. Both scored on the same questions as the agent, so comparison is paired.</a:t>
            </a:r>
            <a:endParaRPr lang="en-US" sz="1350" dirty="0"/>
          </a:p>
        </p:txBody>
      </p:sp>
      <p:sp>
        <p:nvSpPr>
          <p:cNvPr id="8" name="Shape 6"/>
          <p:cNvSpPr/>
          <p:nvPr/>
        </p:nvSpPr>
        <p:spPr>
          <a:xfrm>
            <a:off x="6126480" y="1600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9" name="Text 7"/>
          <p:cNvSpPr/>
          <p:nvPr/>
        </p:nvSpPr>
        <p:spPr>
          <a:xfrm>
            <a:off x="6382512" y="1783080"/>
            <a:ext cx="4663440" cy="411480"/>
          </a:xfrm>
          <a:prstGeom prst="rect">
            <a:avLst/>
          </a:prstGeom>
          <a:noFill/>
          <a:ln/>
        </p:spPr>
        <p:txBody>
          <a:bodyPr wrap="square" lIns="0" tIns="0" rIns="0" bIns="0" rtlCol="0" anchor="ctr"/>
          <a:lstStyle/>
          <a:p>
            <a:pPr indent="0" marL="0">
              <a:buNone/>
            </a:pPr>
            <a:r>
              <a:rPr lang="en-US" sz="1700" b="1" dirty="0">
                <a:solidFill>
                  <a:srgbClr val="34D399"/>
                </a:solidFill>
                <a:latin typeface="Calibri" pitchFamily="34" charset="0"/>
                <a:ea typeface="Calibri" pitchFamily="34" charset="-122"/>
                <a:cs typeface="Calibri" pitchFamily="34" charset="-120"/>
              </a:rPr>
              <a:t>Metrics</a:t>
            </a:r>
            <a:endParaRPr lang="en-US" sz="1700" dirty="0"/>
          </a:p>
        </p:txBody>
      </p:sp>
      <p:sp>
        <p:nvSpPr>
          <p:cNvPr id="10" name="Text 8"/>
          <p:cNvSpPr/>
          <p:nvPr/>
        </p:nvSpPr>
        <p:spPr>
          <a:xfrm>
            <a:off x="6382512" y="2258568"/>
            <a:ext cx="4709160" cy="128016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Answer accuracy, faithfulness, hallucination rate, and retrieval hit rate.</a:t>
            </a:r>
            <a:endParaRPr lang="en-US" sz="1350" dirty="0"/>
          </a:p>
        </p:txBody>
      </p:sp>
      <p:sp>
        <p:nvSpPr>
          <p:cNvPr id="11" name="Shape 9"/>
          <p:cNvSpPr/>
          <p:nvPr/>
        </p:nvSpPr>
        <p:spPr>
          <a:xfrm>
            <a:off x="640080" y="3886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12" name="Text 10"/>
          <p:cNvSpPr/>
          <p:nvPr/>
        </p:nvSpPr>
        <p:spPr>
          <a:xfrm>
            <a:off x="896112" y="4069080"/>
            <a:ext cx="4663440" cy="411480"/>
          </a:xfrm>
          <a:prstGeom prst="rect">
            <a:avLst/>
          </a:prstGeom>
          <a:noFill/>
          <a:ln/>
        </p:spPr>
        <p:txBody>
          <a:bodyPr wrap="square" lIns="0" tIns="0" rIns="0" bIns="0" rtlCol="0" anchor="ctr"/>
          <a:lstStyle/>
          <a:p>
            <a:pPr indent="0" marL="0">
              <a:buNone/>
            </a:pPr>
            <a:r>
              <a:rPr lang="en-US" sz="1700" b="1" dirty="0">
                <a:solidFill>
                  <a:srgbClr val="34D399"/>
                </a:solidFill>
                <a:latin typeface="Calibri" pitchFamily="34" charset="0"/>
                <a:ea typeface="Calibri" pitchFamily="34" charset="-122"/>
                <a:cs typeface="Calibri" pitchFamily="34" charset="-120"/>
              </a:rPr>
              <a:t>Statistics</a:t>
            </a:r>
            <a:endParaRPr lang="en-US" sz="1700" dirty="0"/>
          </a:p>
        </p:txBody>
      </p:sp>
      <p:sp>
        <p:nvSpPr>
          <p:cNvPr id="13" name="Text 11"/>
          <p:cNvSpPr/>
          <p:nvPr/>
        </p:nvSpPr>
        <p:spPr>
          <a:xfrm>
            <a:off x="896112" y="4544568"/>
            <a:ext cx="4709160" cy="128016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An LLM as judge at temperature zero, a paired McNemar test, and variance across five repeated runs.</a:t>
            </a:r>
            <a:endParaRPr lang="en-US" sz="1350" dirty="0"/>
          </a:p>
        </p:txBody>
      </p:sp>
      <p:sp>
        <p:nvSpPr>
          <p:cNvPr id="14" name="Shape 12"/>
          <p:cNvSpPr/>
          <p:nvPr/>
        </p:nvSpPr>
        <p:spPr>
          <a:xfrm>
            <a:off x="6126480" y="3886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15" name="Text 13"/>
          <p:cNvSpPr/>
          <p:nvPr/>
        </p:nvSpPr>
        <p:spPr>
          <a:xfrm>
            <a:off x="6382512" y="4069080"/>
            <a:ext cx="4663440" cy="411480"/>
          </a:xfrm>
          <a:prstGeom prst="rect">
            <a:avLst/>
          </a:prstGeom>
          <a:noFill/>
          <a:ln/>
        </p:spPr>
        <p:txBody>
          <a:bodyPr wrap="square" lIns="0" tIns="0" rIns="0" bIns="0" rtlCol="0" anchor="ctr"/>
          <a:lstStyle/>
          <a:p>
            <a:pPr indent="0" marL="0">
              <a:buNone/>
            </a:pPr>
            <a:r>
              <a:rPr lang="en-US" sz="1700" b="1" dirty="0">
                <a:solidFill>
                  <a:srgbClr val="34D399"/>
                </a:solidFill>
                <a:latin typeface="Calibri" pitchFamily="34" charset="0"/>
                <a:ea typeface="Calibri" pitchFamily="34" charset="-122"/>
                <a:cs typeface="Calibri" pitchFamily="34" charset="-120"/>
              </a:rPr>
              <a:t>Compute</a:t>
            </a:r>
            <a:endParaRPr lang="en-US" sz="1700" dirty="0"/>
          </a:p>
        </p:txBody>
      </p:sp>
      <p:sp>
        <p:nvSpPr>
          <p:cNvPr id="16" name="Text 14"/>
          <p:cNvSpPr/>
          <p:nvPr/>
        </p:nvSpPr>
        <p:spPr>
          <a:xfrm>
            <a:off x="6382512" y="4544568"/>
            <a:ext cx="4709160" cy="128016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No training. One workstation for retrieval, a small number of Gemini flash calls per question.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HEADLINE RESULTS</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The agent is accurate and grounded</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11 / 16</a:t>
            </a:r>
            <a:endParaRPr lang="en-US" sz="900" dirty="0"/>
          </a:p>
        </p:txBody>
      </p:sp>
      <p:sp>
        <p:nvSpPr>
          <p:cNvPr id="5" name="Text 3"/>
          <p:cNvSpPr/>
          <p:nvPr/>
        </p:nvSpPr>
        <p:spPr>
          <a:xfrm>
            <a:off x="640080" y="1417320"/>
            <a:ext cx="6035040" cy="320040"/>
          </a:xfrm>
          <a:prstGeom prst="rect">
            <a:avLst/>
          </a:prstGeom>
          <a:noFill/>
          <a:ln/>
        </p:spPr>
        <p:txBody>
          <a:bodyPr wrap="square" lIns="0" tIns="0" rIns="0" bIns="0" rtlCol="0" anchor="ctr"/>
          <a:lstStyle/>
          <a:p>
            <a:pPr indent="0" marL="0">
              <a:buNone/>
            </a:pPr>
            <a:r>
              <a:rPr lang="en-US" sz="1300" b="1" dirty="0">
                <a:solidFill>
                  <a:srgbClr val="8FA89B"/>
                </a:solidFill>
                <a:latin typeface="Calibri" pitchFamily="34" charset="0"/>
                <a:ea typeface="Calibri" pitchFamily="34" charset="-122"/>
                <a:cs typeface="Calibri" pitchFamily="34" charset="-120"/>
              </a:rPr>
              <a:t>GCC answer accuracy</a:t>
            </a:r>
            <a:endParaRPr lang="en-US" sz="1300" dirty="0"/>
          </a:p>
        </p:txBody>
      </p:sp>
      <p:sp>
        <p:nvSpPr>
          <p:cNvPr id="6" name="Text 4"/>
          <p:cNvSpPr/>
          <p:nvPr/>
        </p:nvSpPr>
        <p:spPr>
          <a:xfrm>
            <a:off x="640080" y="1764792"/>
            <a:ext cx="6035040" cy="274320"/>
          </a:xfrm>
          <a:prstGeom prst="rect">
            <a:avLst/>
          </a:prstGeom>
          <a:noFill/>
          <a:ln/>
        </p:spPr>
        <p:txBody>
          <a:bodyPr wrap="square" lIns="0" tIns="0" rIns="0" bIns="0" rtlCol="0" anchor="ctr"/>
          <a:lstStyle/>
          <a:p>
            <a:pPr indent="0" marL="0">
              <a:buNone/>
            </a:pPr>
            <a:r>
              <a:rPr lang="en-US" sz="1250" dirty="0">
                <a:solidFill>
                  <a:srgbClr val="E9F6EF"/>
                </a:solidFill>
                <a:latin typeface="Calibri" pitchFamily="34" charset="0"/>
                <a:ea typeface="Calibri" pitchFamily="34" charset="-122"/>
                <a:cs typeface="Calibri" pitchFamily="34" charset="-120"/>
              </a:rPr>
              <a:t>No retrieval (closed book)</a:t>
            </a:r>
            <a:endParaRPr lang="en-US" sz="1250" dirty="0"/>
          </a:p>
        </p:txBody>
      </p:sp>
      <p:sp>
        <p:nvSpPr>
          <p:cNvPr id="7" name="Shape 5"/>
          <p:cNvSpPr/>
          <p:nvPr/>
        </p:nvSpPr>
        <p:spPr>
          <a:xfrm>
            <a:off x="640080" y="2057400"/>
            <a:ext cx="6035040" cy="658368"/>
          </a:xfrm>
          <a:prstGeom prst="roundRect">
            <a:avLst>
              <a:gd name="adj" fmla="val 6944"/>
            </a:avLst>
          </a:prstGeom>
          <a:solidFill>
            <a:srgbClr val="12251C"/>
          </a:solidFill>
          <a:ln/>
        </p:spPr>
        <p:txBody>
          <a:bodyPr/>
          <a:p/>
        </p:txBody>
      </p:sp>
      <p:sp>
        <p:nvSpPr>
          <p:cNvPr id="8" name="Shape 6"/>
          <p:cNvSpPr/>
          <p:nvPr/>
        </p:nvSpPr>
        <p:spPr>
          <a:xfrm>
            <a:off x="640080" y="2057400"/>
            <a:ext cx="687995" cy="658368"/>
          </a:xfrm>
          <a:prstGeom prst="roundRect">
            <a:avLst>
              <a:gd name="adj" fmla="val 6944"/>
            </a:avLst>
          </a:prstGeom>
          <a:solidFill>
            <a:srgbClr val="5E7A6C"/>
          </a:solidFill>
          <a:ln/>
        </p:spPr>
        <p:txBody>
          <a:bodyPr/>
          <a:p/>
        </p:txBody>
      </p:sp>
      <p:sp>
        <p:nvSpPr>
          <p:cNvPr id="9" name="Text 7"/>
          <p:cNvSpPr/>
          <p:nvPr/>
        </p:nvSpPr>
        <p:spPr>
          <a:xfrm>
            <a:off x="1437803" y="2057400"/>
            <a:ext cx="1097280" cy="658368"/>
          </a:xfrm>
          <a:prstGeom prst="rect">
            <a:avLst/>
          </a:prstGeom>
          <a:noFill/>
          <a:ln/>
        </p:spPr>
        <p:txBody>
          <a:bodyPr wrap="square" lIns="0" tIns="0" rIns="0" bIns="0" rtlCol="0" anchor="ctr"/>
          <a:lstStyle/>
          <a:p>
            <a:pPr indent="0" marL="0">
              <a:buNone/>
            </a:pPr>
            <a:r>
              <a:rPr lang="en-US" sz="1500" b="1" dirty="0">
                <a:solidFill>
                  <a:srgbClr val="E9F6EF"/>
                </a:solidFill>
                <a:latin typeface="Calibri" pitchFamily="34" charset="0"/>
                <a:ea typeface="Calibri" pitchFamily="34" charset="-122"/>
                <a:cs typeface="Calibri" pitchFamily="34" charset="-120"/>
              </a:rPr>
              <a:t>11.4%</a:t>
            </a:r>
            <a:endParaRPr lang="en-US" sz="1500" dirty="0"/>
          </a:p>
        </p:txBody>
      </p:sp>
      <p:sp>
        <p:nvSpPr>
          <p:cNvPr id="10" name="Text 8"/>
          <p:cNvSpPr/>
          <p:nvPr/>
        </p:nvSpPr>
        <p:spPr>
          <a:xfrm>
            <a:off x="640080" y="2926080"/>
            <a:ext cx="6035040" cy="274320"/>
          </a:xfrm>
          <a:prstGeom prst="rect">
            <a:avLst/>
          </a:prstGeom>
          <a:noFill/>
          <a:ln/>
        </p:spPr>
        <p:txBody>
          <a:bodyPr wrap="square" lIns="0" tIns="0" rIns="0" bIns="0" rtlCol="0" anchor="ctr"/>
          <a:lstStyle/>
          <a:p>
            <a:pPr indent="0" marL="0">
              <a:buNone/>
            </a:pPr>
            <a:r>
              <a:rPr lang="en-US" sz="1250" dirty="0">
                <a:solidFill>
                  <a:srgbClr val="E9F6EF"/>
                </a:solidFill>
                <a:latin typeface="Calibri" pitchFamily="34" charset="0"/>
                <a:ea typeface="Calibri" pitchFamily="34" charset="-122"/>
                <a:cs typeface="Calibri" pitchFamily="34" charset="-120"/>
              </a:rPr>
              <a:t>Single pass naive RAG</a:t>
            </a:r>
            <a:endParaRPr lang="en-US" sz="1250" dirty="0"/>
          </a:p>
        </p:txBody>
      </p:sp>
      <p:sp>
        <p:nvSpPr>
          <p:cNvPr id="11" name="Shape 9"/>
          <p:cNvSpPr/>
          <p:nvPr/>
        </p:nvSpPr>
        <p:spPr>
          <a:xfrm>
            <a:off x="640080" y="3218688"/>
            <a:ext cx="6035040" cy="658368"/>
          </a:xfrm>
          <a:prstGeom prst="roundRect">
            <a:avLst>
              <a:gd name="adj" fmla="val 6944"/>
            </a:avLst>
          </a:prstGeom>
          <a:solidFill>
            <a:srgbClr val="12251C"/>
          </a:solidFill>
          <a:ln/>
        </p:spPr>
        <p:txBody>
          <a:bodyPr/>
          <a:p/>
        </p:txBody>
      </p:sp>
      <p:sp>
        <p:nvSpPr>
          <p:cNvPr id="12" name="Shape 10"/>
          <p:cNvSpPr/>
          <p:nvPr/>
        </p:nvSpPr>
        <p:spPr>
          <a:xfrm>
            <a:off x="640080" y="3218688"/>
            <a:ext cx="5003048" cy="658368"/>
          </a:xfrm>
          <a:prstGeom prst="roundRect">
            <a:avLst>
              <a:gd name="adj" fmla="val 6944"/>
            </a:avLst>
          </a:prstGeom>
          <a:solidFill>
            <a:srgbClr val="059669"/>
          </a:solidFill>
          <a:ln/>
        </p:spPr>
        <p:txBody>
          <a:bodyPr/>
          <a:p/>
        </p:txBody>
      </p:sp>
      <p:sp>
        <p:nvSpPr>
          <p:cNvPr id="13" name="Text 11"/>
          <p:cNvSpPr/>
          <p:nvPr/>
        </p:nvSpPr>
        <p:spPr>
          <a:xfrm>
            <a:off x="5752856" y="3218688"/>
            <a:ext cx="1097280" cy="658368"/>
          </a:xfrm>
          <a:prstGeom prst="rect">
            <a:avLst/>
          </a:prstGeom>
          <a:noFill/>
          <a:ln/>
        </p:spPr>
        <p:txBody>
          <a:bodyPr wrap="square" lIns="0" tIns="0" rIns="0" bIns="0" rtlCol="0" anchor="ctr"/>
          <a:lstStyle/>
          <a:p>
            <a:pPr indent="0" marL="0">
              <a:buNone/>
            </a:pPr>
            <a:r>
              <a:rPr lang="en-US" sz="1500" b="1" dirty="0">
                <a:solidFill>
                  <a:srgbClr val="E9F6EF"/>
                </a:solidFill>
                <a:latin typeface="Calibri" pitchFamily="34" charset="0"/>
                <a:ea typeface="Calibri" pitchFamily="34" charset="-122"/>
                <a:cs typeface="Calibri" pitchFamily="34" charset="-120"/>
              </a:rPr>
              <a:t>82.9%</a:t>
            </a:r>
            <a:endParaRPr lang="en-US" sz="1500" dirty="0"/>
          </a:p>
        </p:txBody>
      </p:sp>
      <p:sp>
        <p:nvSpPr>
          <p:cNvPr id="14" name="Text 12"/>
          <p:cNvSpPr/>
          <p:nvPr/>
        </p:nvSpPr>
        <p:spPr>
          <a:xfrm>
            <a:off x="640080" y="4087368"/>
            <a:ext cx="6035040" cy="274320"/>
          </a:xfrm>
          <a:prstGeom prst="rect">
            <a:avLst/>
          </a:prstGeom>
          <a:noFill/>
          <a:ln/>
        </p:spPr>
        <p:txBody>
          <a:bodyPr wrap="square" lIns="0" tIns="0" rIns="0" bIns="0" rtlCol="0" anchor="ctr"/>
          <a:lstStyle/>
          <a:p>
            <a:pPr indent="0" marL="0">
              <a:buNone/>
            </a:pPr>
            <a:r>
              <a:rPr lang="en-US" sz="1250" dirty="0">
                <a:solidFill>
                  <a:srgbClr val="E9F6EF"/>
                </a:solidFill>
                <a:latin typeface="Calibri" pitchFamily="34" charset="0"/>
                <a:ea typeface="Calibri" pitchFamily="34" charset="-122"/>
                <a:cs typeface="Calibri" pitchFamily="34" charset="-120"/>
              </a:rPr>
              <a:t>Full agent (proposed)</a:t>
            </a:r>
            <a:endParaRPr lang="en-US" sz="1250" dirty="0"/>
          </a:p>
        </p:txBody>
      </p:sp>
      <p:sp>
        <p:nvSpPr>
          <p:cNvPr id="15" name="Shape 13"/>
          <p:cNvSpPr/>
          <p:nvPr/>
        </p:nvSpPr>
        <p:spPr>
          <a:xfrm>
            <a:off x="640080" y="4379976"/>
            <a:ext cx="6035040" cy="658368"/>
          </a:xfrm>
          <a:prstGeom prst="roundRect">
            <a:avLst>
              <a:gd name="adj" fmla="val 6944"/>
            </a:avLst>
          </a:prstGeom>
          <a:solidFill>
            <a:srgbClr val="12251C"/>
          </a:solidFill>
          <a:ln/>
        </p:spPr>
        <p:txBody>
          <a:bodyPr/>
          <a:p/>
        </p:txBody>
      </p:sp>
      <p:sp>
        <p:nvSpPr>
          <p:cNvPr id="16" name="Shape 14"/>
          <p:cNvSpPr/>
          <p:nvPr/>
        </p:nvSpPr>
        <p:spPr>
          <a:xfrm>
            <a:off x="640080" y="4379976"/>
            <a:ext cx="5841919" cy="658368"/>
          </a:xfrm>
          <a:prstGeom prst="roundRect">
            <a:avLst>
              <a:gd name="adj" fmla="val 6944"/>
            </a:avLst>
          </a:prstGeom>
          <a:solidFill>
            <a:srgbClr val="34D399"/>
          </a:solidFill>
          <a:ln/>
        </p:spPr>
        <p:txBody>
          <a:bodyPr/>
          <a:p/>
        </p:txBody>
      </p:sp>
      <p:sp>
        <p:nvSpPr>
          <p:cNvPr id="17" name="Text 15"/>
          <p:cNvSpPr/>
          <p:nvPr/>
        </p:nvSpPr>
        <p:spPr>
          <a:xfrm>
            <a:off x="6591727" y="4379976"/>
            <a:ext cx="1097280" cy="658368"/>
          </a:xfrm>
          <a:prstGeom prst="rect">
            <a:avLst/>
          </a:prstGeom>
          <a:noFill/>
          <a:ln/>
        </p:spPr>
        <p:txBody>
          <a:bodyPr wrap="square" lIns="0" tIns="0" rIns="0" bIns="0" rtlCol="0" anchor="ctr"/>
          <a:lstStyle/>
          <a:p>
            <a:pPr indent="0" marL="0">
              <a:buNone/>
            </a:pPr>
            <a:r>
              <a:rPr lang="en-US" sz="1500" b="1" dirty="0">
                <a:solidFill>
                  <a:srgbClr val="E9F6EF"/>
                </a:solidFill>
                <a:latin typeface="Calibri" pitchFamily="34" charset="0"/>
                <a:ea typeface="Calibri" pitchFamily="34" charset="-122"/>
                <a:cs typeface="Calibri" pitchFamily="34" charset="-120"/>
              </a:rPr>
              <a:t>96.8%</a:t>
            </a:r>
            <a:endParaRPr lang="en-US" sz="1500" dirty="0"/>
          </a:p>
        </p:txBody>
      </p:sp>
      <p:sp>
        <p:nvSpPr>
          <p:cNvPr id="18" name="Shape 16"/>
          <p:cNvSpPr/>
          <p:nvPr/>
        </p:nvSpPr>
        <p:spPr>
          <a:xfrm>
            <a:off x="7315200" y="1554480"/>
            <a:ext cx="4206240" cy="1645920"/>
          </a:xfrm>
          <a:prstGeom prst="roundRect">
            <a:avLst>
              <a:gd name="adj" fmla="val 6667"/>
            </a:avLst>
          </a:prstGeom>
          <a:solidFill>
            <a:srgbClr val="13291F"/>
          </a:solidFill>
          <a:ln w="15875">
            <a:solidFill>
              <a:srgbClr val="34D399"/>
            </a:solidFill>
            <a:prstDash val="solid"/>
          </a:ln>
        </p:spPr>
        <p:txBody>
          <a:bodyPr/>
          <a:p/>
        </p:txBody>
      </p:sp>
      <p:sp>
        <p:nvSpPr>
          <p:cNvPr id="19" name="Text 17"/>
          <p:cNvSpPr/>
          <p:nvPr/>
        </p:nvSpPr>
        <p:spPr>
          <a:xfrm>
            <a:off x="7589520" y="1719072"/>
            <a:ext cx="1828800" cy="1280160"/>
          </a:xfrm>
          <a:prstGeom prst="rect">
            <a:avLst/>
          </a:prstGeom>
          <a:noFill/>
          <a:ln/>
        </p:spPr>
        <p:txBody>
          <a:bodyPr wrap="square" lIns="0" tIns="0" rIns="0" bIns="0" rtlCol="0" anchor="ctr"/>
          <a:lstStyle/>
          <a:p>
            <a:pPr indent="0" marL="0">
              <a:buNone/>
            </a:pPr>
            <a:r>
              <a:rPr lang="en-US" sz="4400" b="1" dirty="0">
                <a:solidFill>
                  <a:srgbClr val="34D399"/>
                </a:solidFill>
                <a:latin typeface="Calibri" pitchFamily="34" charset="0"/>
                <a:ea typeface="Calibri" pitchFamily="34" charset="-122"/>
                <a:cs typeface="Calibri" pitchFamily="34" charset="-120"/>
              </a:rPr>
              <a:t>96.8%</a:t>
            </a:r>
            <a:endParaRPr lang="en-US" sz="4400" dirty="0"/>
          </a:p>
        </p:txBody>
      </p:sp>
      <p:sp>
        <p:nvSpPr>
          <p:cNvPr id="20" name="Text 18"/>
          <p:cNvSpPr/>
          <p:nvPr/>
        </p:nvSpPr>
        <p:spPr>
          <a:xfrm>
            <a:off x="9464040" y="1828800"/>
            <a:ext cx="1828800" cy="457200"/>
          </a:xfrm>
          <a:prstGeom prst="rect">
            <a:avLst/>
          </a:prstGeom>
          <a:noFill/>
          <a:ln/>
        </p:spPr>
        <p:txBody>
          <a:bodyPr wrap="square" lIns="0" tIns="0" rIns="0" bIns="0" rtlCol="0" anchor="b"/>
          <a:lstStyle/>
          <a:p>
            <a:pPr indent="0" marL="0">
              <a:buNone/>
            </a:pPr>
            <a:r>
              <a:rPr lang="en-US" sz="1700" b="1" dirty="0">
                <a:solidFill>
                  <a:srgbClr val="E9F6EF"/>
                </a:solidFill>
                <a:latin typeface="Calibri" pitchFamily="34" charset="0"/>
                <a:ea typeface="Calibri" pitchFamily="34" charset="-122"/>
                <a:cs typeface="Calibri" pitchFamily="34" charset="-120"/>
              </a:rPr>
              <a:t>accuracy</a:t>
            </a:r>
            <a:endParaRPr lang="en-US" sz="1700" dirty="0"/>
          </a:p>
        </p:txBody>
      </p:sp>
      <p:sp>
        <p:nvSpPr>
          <p:cNvPr id="21" name="Text 19"/>
          <p:cNvSpPr/>
          <p:nvPr/>
        </p:nvSpPr>
        <p:spPr>
          <a:xfrm>
            <a:off x="9464040" y="2331720"/>
            <a:ext cx="1874520" cy="731520"/>
          </a:xfrm>
          <a:prstGeom prst="rect">
            <a:avLst/>
          </a:prstGeom>
          <a:noFill/>
          <a:ln/>
        </p:spPr>
        <p:txBody>
          <a:bodyPr wrap="square" lIns="0" tIns="0" rIns="0" bIns="0" rtlCol="0" anchor="t"/>
          <a:lstStyle/>
          <a:p>
            <a:pPr indent="0" marL="0">
              <a:lnSpc>
                <a:spcPct val="105000"/>
              </a:lnSpc>
              <a:buNone/>
            </a:pPr>
            <a:r>
              <a:rPr lang="en-US" sz="1150" dirty="0">
                <a:solidFill>
                  <a:srgbClr val="8FA89B"/>
                </a:solidFill>
                <a:latin typeface="Calibri" pitchFamily="34" charset="0"/>
                <a:ea typeface="Calibri" pitchFamily="34" charset="-122"/>
                <a:cs typeface="Calibri" pitchFamily="34" charset="-120"/>
              </a:rPr>
              <a:t>plus or minus 0.1, over five runs</a:t>
            </a:r>
            <a:endParaRPr lang="en-US" sz="1150" dirty="0"/>
          </a:p>
        </p:txBody>
      </p:sp>
      <p:sp>
        <p:nvSpPr>
          <p:cNvPr id="22" name="Shape 20"/>
          <p:cNvSpPr/>
          <p:nvPr/>
        </p:nvSpPr>
        <p:spPr>
          <a:xfrm>
            <a:off x="7315200" y="3383280"/>
            <a:ext cx="4206240" cy="1645920"/>
          </a:xfrm>
          <a:prstGeom prst="roundRect">
            <a:avLst>
              <a:gd name="adj" fmla="val 6667"/>
            </a:avLst>
          </a:prstGeom>
          <a:solidFill>
            <a:srgbClr val="13291F"/>
          </a:solidFill>
          <a:ln w="15875">
            <a:solidFill>
              <a:srgbClr val="34D399"/>
            </a:solidFill>
            <a:prstDash val="solid"/>
          </a:ln>
        </p:spPr>
        <p:txBody>
          <a:bodyPr/>
          <a:p/>
        </p:txBody>
      </p:sp>
      <p:sp>
        <p:nvSpPr>
          <p:cNvPr id="23" name="Text 21"/>
          <p:cNvSpPr/>
          <p:nvPr/>
        </p:nvSpPr>
        <p:spPr>
          <a:xfrm>
            <a:off x="7589520" y="3547872"/>
            <a:ext cx="1828800" cy="1280160"/>
          </a:xfrm>
          <a:prstGeom prst="rect">
            <a:avLst/>
          </a:prstGeom>
          <a:noFill/>
          <a:ln/>
        </p:spPr>
        <p:txBody>
          <a:bodyPr wrap="square" lIns="0" tIns="0" rIns="0" bIns="0" rtlCol="0" anchor="ctr"/>
          <a:lstStyle/>
          <a:p>
            <a:pPr indent="0" marL="0">
              <a:buNone/>
            </a:pPr>
            <a:r>
              <a:rPr lang="en-US" sz="4400" b="1" dirty="0">
                <a:solidFill>
                  <a:srgbClr val="34D399"/>
                </a:solidFill>
                <a:latin typeface="Calibri" pitchFamily="34" charset="0"/>
                <a:ea typeface="Calibri" pitchFamily="34" charset="-122"/>
                <a:cs typeface="Calibri" pitchFamily="34" charset="-120"/>
              </a:rPr>
              <a:t>99.4%</a:t>
            </a:r>
            <a:endParaRPr lang="en-US" sz="4400" dirty="0"/>
          </a:p>
        </p:txBody>
      </p:sp>
      <p:sp>
        <p:nvSpPr>
          <p:cNvPr id="24" name="Text 22"/>
          <p:cNvSpPr/>
          <p:nvPr/>
        </p:nvSpPr>
        <p:spPr>
          <a:xfrm>
            <a:off x="9464040" y="3657600"/>
            <a:ext cx="1828800" cy="457200"/>
          </a:xfrm>
          <a:prstGeom prst="rect">
            <a:avLst/>
          </a:prstGeom>
          <a:noFill/>
          <a:ln/>
        </p:spPr>
        <p:txBody>
          <a:bodyPr wrap="square" lIns="0" tIns="0" rIns="0" bIns="0" rtlCol="0" anchor="b"/>
          <a:lstStyle/>
          <a:p>
            <a:pPr indent="0" marL="0">
              <a:buNone/>
            </a:pPr>
            <a:r>
              <a:rPr lang="en-US" sz="1700" b="1" dirty="0">
                <a:solidFill>
                  <a:srgbClr val="E9F6EF"/>
                </a:solidFill>
                <a:latin typeface="Calibri" pitchFamily="34" charset="0"/>
                <a:ea typeface="Calibri" pitchFamily="34" charset="-122"/>
                <a:cs typeface="Calibri" pitchFamily="34" charset="-120"/>
              </a:rPr>
              <a:t>faithfulness</a:t>
            </a:r>
            <a:endParaRPr lang="en-US" sz="1700" dirty="0"/>
          </a:p>
        </p:txBody>
      </p:sp>
      <p:sp>
        <p:nvSpPr>
          <p:cNvPr id="25" name="Text 23"/>
          <p:cNvSpPr/>
          <p:nvPr/>
        </p:nvSpPr>
        <p:spPr>
          <a:xfrm>
            <a:off x="9464040" y="4160520"/>
            <a:ext cx="1874520" cy="731520"/>
          </a:xfrm>
          <a:prstGeom prst="rect">
            <a:avLst/>
          </a:prstGeom>
          <a:noFill/>
          <a:ln/>
        </p:spPr>
        <p:txBody>
          <a:bodyPr wrap="square" lIns="0" tIns="0" rIns="0" bIns="0" rtlCol="0" anchor="t"/>
          <a:lstStyle/>
          <a:p>
            <a:pPr indent="0" marL="0">
              <a:lnSpc>
                <a:spcPct val="105000"/>
              </a:lnSpc>
              <a:buNone/>
            </a:pPr>
            <a:r>
              <a:rPr lang="en-US" sz="1150" dirty="0">
                <a:solidFill>
                  <a:srgbClr val="8FA89B"/>
                </a:solidFill>
                <a:latin typeface="Calibri" pitchFamily="34" charset="0"/>
                <a:ea typeface="Calibri" pitchFamily="34" charset="-122"/>
                <a:cs typeface="Calibri" pitchFamily="34" charset="-120"/>
              </a:rPr>
              <a:t>plus or minus 1.2, over five runs</a:t>
            </a:r>
            <a:endParaRPr lang="en-US" sz="1150" dirty="0"/>
          </a:p>
        </p:txBody>
      </p:sp>
      <p:sp>
        <p:nvSpPr>
          <p:cNvPr id="26" name="Text 24"/>
          <p:cNvSpPr/>
          <p:nvPr/>
        </p:nvSpPr>
        <p:spPr>
          <a:xfrm>
            <a:off x="7315200" y="5257800"/>
            <a:ext cx="4206240" cy="548640"/>
          </a:xfrm>
          <a:prstGeom prst="rect">
            <a:avLst/>
          </a:prstGeom>
          <a:noFill/>
          <a:ln/>
        </p:spPr>
        <p:txBody>
          <a:bodyPr wrap="square" lIns="0" tIns="0" rIns="0" bIns="0" rtlCol="0" anchor="t"/>
          <a:lstStyle/>
          <a:p>
            <a:pPr indent="0" marL="0">
              <a:lnSpc>
                <a:spcPct val="110000"/>
              </a:lnSpc>
              <a:buNone/>
            </a:pPr>
            <a:r>
              <a:rPr lang="en-US" sz="1250" dirty="0">
                <a:solidFill>
                  <a:srgbClr val="8FA89B"/>
                </a:solidFill>
                <a:latin typeface="Calibri" pitchFamily="34" charset="0"/>
                <a:ea typeface="Calibri" pitchFamily="34" charset="-122"/>
                <a:cs typeface="Calibri" pitchFamily="34" charset="-120"/>
              </a:rPr>
              <a:t>Paired McNemar on the primary run: </a:t>
            </a:r>
            <a:pPr indent="0" marL="0">
              <a:lnSpc>
                <a:spcPct val="110000"/>
              </a:lnSpc>
              <a:buNone/>
            </a:pPr>
            <a:r>
              <a:rPr lang="en-US" sz="1250" b="1" dirty="0">
                <a:solidFill>
                  <a:srgbClr val="6EE7B7"/>
                </a:solidFill>
                <a:latin typeface="Calibri" pitchFamily="34" charset="0"/>
                <a:ea typeface="Calibri" pitchFamily="34" charset="-122"/>
                <a:cs typeface="Calibri" pitchFamily="34" charset="-120"/>
              </a:rPr>
              <a:t>5 wins, 0 losses, exact p 0.0625.</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ABLATIONS AND ERRORS</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An honest ablation and a real bug</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12 / 16</a:t>
            </a:r>
            <a:endParaRPr lang="en-US" sz="900" dirty="0"/>
          </a:p>
        </p:txBody>
      </p:sp>
      <p:sp>
        <p:nvSpPr>
          <p:cNvPr id="5" name="Shape 3"/>
          <p:cNvSpPr/>
          <p:nvPr/>
        </p:nvSpPr>
        <p:spPr>
          <a:xfrm>
            <a:off x="640080" y="1554480"/>
            <a:ext cx="5349240" cy="2286000"/>
          </a:xfrm>
          <a:prstGeom prst="roundRect">
            <a:avLst>
              <a:gd name="adj" fmla="val 4000"/>
            </a:avLst>
          </a:prstGeom>
          <a:solidFill>
            <a:srgbClr val="13291F"/>
          </a:solidFill>
          <a:ln w="12700">
            <a:solidFill>
              <a:srgbClr val="1E3B2E"/>
            </a:solidFill>
            <a:prstDash val="solid"/>
          </a:ln>
        </p:spPr>
        <p:txBody>
          <a:bodyPr/>
          <a:p/>
        </p:txBody>
      </p:sp>
      <p:sp>
        <p:nvSpPr>
          <p:cNvPr id="6" name="Text 4"/>
          <p:cNvSpPr/>
          <p:nvPr/>
        </p:nvSpPr>
        <p:spPr>
          <a:xfrm>
            <a:off x="868680" y="1691640"/>
            <a:ext cx="4937760" cy="365760"/>
          </a:xfrm>
          <a:prstGeom prst="rect">
            <a:avLst/>
          </a:prstGeom>
          <a:noFill/>
          <a:ln/>
        </p:spPr>
        <p:txBody>
          <a:bodyPr wrap="square" lIns="0" tIns="0" rIns="0" bIns="0" rtlCol="0" anchor="ctr"/>
          <a:lstStyle/>
          <a:p>
            <a:pPr indent="0" marL="0">
              <a:buNone/>
            </a:pPr>
            <a:r>
              <a:rPr lang="en-US" sz="1500" b="1" dirty="0">
                <a:solidFill>
                  <a:srgbClr val="6EE7B7"/>
                </a:solidFill>
                <a:latin typeface="Calibri" pitchFamily="34" charset="0"/>
                <a:ea typeface="Calibri" pitchFamily="34" charset="-122"/>
                <a:cs typeface="Calibri" pitchFamily="34" charset="-120"/>
              </a:rPr>
              <a:t>Reranking helps where it should</a:t>
            </a:r>
            <a:endParaRPr lang="en-US" sz="1500" dirty="0"/>
          </a:p>
        </p:txBody>
      </p:sp>
      <p:sp>
        <p:nvSpPr>
          <p:cNvPr id="7" name="Text 5"/>
          <p:cNvSpPr/>
          <p:nvPr/>
        </p:nvSpPr>
        <p:spPr>
          <a:xfrm>
            <a:off x="868680" y="2148840"/>
            <a:ext cx="4937760" cy="1600200"/>
          </a:xfrm>
          <a:prstGeom prst="rect">
            <a:avLst/>
          </a:prstGeom>
          <a:noFill/>
          <a:ln/>
        </p:spPr>
        <p:txBody>
          <a:bodyPr wrap="square" lIns="0" tIns="0" rIns="0" bIns="0" rtlCol="0" anchor="t"/>
          <a:lstStyle/>
          <a:p>
            <a:pPr indent="0" marL="0">
              <a:lnSpc>
                <a:spcPct val="112000"/>
              </a:lnSpc>
              <a:buNone/>
            </a:pPr>
            <a:r>
              <a:rPr lang="en-US" sz="1300" dirty="0">
                <a:solidFill>
                  <a:srgbClr val="8FA89B"/>
                </a:solidFill>
                <a:latin typeface="Calibri" pitchFamily="34" charset="0"/>
                <a:ea typeface="Calibri" pitchFamily="34" charset="-122"/>
                <a:cs typeface="Calibri" pitchFamily="34" charset="-120"/>
              </a:rPr>
              <a:t>US corpus:  </a:t>
            </a:r>
            <a:pPr indent="0" marL="0">
              <a:lnSpc>
                <a:spcPct val="112000"/>
              </a:lnSpc>
              <a:buNone/>
            </a:pPr>
            <a:r>
              <a:rPr lang="en-US" sz="1300" b="1" dirty="0">
                <a:solidFill>
                  <a:srgbClr val="34D399"/>
                </a:solidFill>
                <a:latin typeface="Calibri" pitchFamily="34" charset="0"/>
                <a:ea typeface="Calibri" pitchFamily="34" charset="-122"/>
                <a:cs typeface="Calibri" pitchFamily="34" charset="-120"/>
              </a:rPr>
              <a:t>83.9%  to  96.8%  hit rate  (+12.9 pts)</a:t>
            </a:r>
            <a:pPr indent="0" marL="0">
              <a:lnSpc>
                <a:spcPct val="112000"/>
              </a:lnSpc>
              <a:buNone/>
            </a:pPr>
            <a:r>
              <a:rPr lang="en-US" sz="1300" dirty="0">
                <a:solidFill>
                  <a:srgbClr val="000000"/>
                </a:solidFill>
                <a:latin typeface="Calibri" pitchFamily="34" charset="0"/>
                <a:ea typeface="Calibri" pitchFamily="34" charset="-122"/>
                <a:cs typeface="Calibri" pitchFamily="34" charset="-120"/>
              </a:rPr>
              <a:t>
</a:t>
            </a:r>
            <a:pPr indent="0" marL="0">
              <a:lnSpc>
                <a:spcPct val="112000"/>
              </a:lnSpc>
              <a:buNone/>
            </a:pPr>
            <a:r>
              <a:rPr lang="en-US" sz="1300" dirty="0">
                <a:solidFill>
                  <a:srgbClr val="8FA89B"/>
                </a:solidFill>
                <a:latin typeface="Calibri" pitchFamily="34" charset="0"/>
                <a:ea typeface="Calibri" pitchFamily="34" charset="-122"/>
                <a:cs typeface="Calibri" pitchFamily="34" charset="-120"/>
              </a:rPr>
              <a:t>GCC corpus:  </a:t>
            </a:r>
            <a:pPr indent="0" marL="0">
              <a:lnSpc>
                <a:spcPct val="112000"/>
              </a:lnSpc>
              <a:buNone/>
            </a:pPr>
            <a:r>
              <a:rPr lang="en-US" sz="1300" b="1" dirty="0">
                <a:solidFill>
                  <a:srgbClr val="F0A868"/>
                </a:solidFill>
                <a:latin typeface="Calibri" pitchFamily="34" charset="0"/>
                <a:ea typeface="Calibri" pitchFamily="34" charset="-122"/>
                <a:cs typeface="Calibri" pitchFamily="34" charset="-120"/>
              </a:rPr>
              <a:t>a small net cost, 100%  to  97.1%</a:t>
            </a:r>
            <a:pPr indent="0" marL="0">
              <a:lnSpc>
                <a:spcPct val="112000"/>
              </a:lnSpc>
              <a:buNone/>
            </a:pPr>
            <a:r>
              <a:rPr lang="en-US" sz="1300" dirty="0">
                <a:solidFill>
                  <a:srgbClr val="000000"/>
                </a:solidFill>
                <a:latin typeface="Calibri" pitchFamily="34" charset="0"/>
                <a:ea typeface="Calibri" pitchFamily="34" charset="-122"/>
                <a:cs typeface="Calibri" pitchFamily="34" charset="-120"/>
              </a:rPr>
              <a:t>
</a:t>
            </a:r>
            <a:pPr indent="0" marL="0">
              <a:lnSpc>
                <a:spcPct val="112000"/>
              </a:lnSpc>
              <a:buNone/>
            </a:pPr>
            <a:r>
              <a:rPr lang="en-US" sz="1300" dirty="0">
                <a:solidFill>
                  <a:srgbClr val="E9F6EF"/>
                </a:solidFill>
                <a:latin typeface="Calibri" pitchFamily="34" charset="0"/>
                <a:ea typeface="Calibri" pitchFamily="34" charset="-122"/>
                <a:cs typeface="Calibri" pitchFamily="34" charset="-120"/>
              </a:rPr>
              <a:t>The cross encoder helps on the larger, mixed US corpus and slightly hurts recall on the small, homogeneous GCC set. The thesis reports this rather than hiding it.</a:t>
            </a:r>
            <a:endParaRPr lang="en-US" sz="1300" dirty="0"/>
          </a:p>
        </p:txBody>
      </p:sp>
      <p:sp>
        <p:nvSpPr>
          <p:cNvPr id="8" name="Shape 6"/>
          <p:cNvSpPr/>
          <p:nvPr/>
        </p:nvSpPr>
        <p:spPr>
          <a:xfrm>
            <a:off x="6172200" y="1554480"/>
            <a:ext cx="5349240" cy="2286000"/>
          </a:xfrm>
          <a:prstGeom prst="roundRect">
            <a:avLst>
              <a:gd name="adj" fmla="val 4000"/>
            </a:avLst>
          </a:prstGeom>
          <a:solidFill>
            <a:srgbClr val="13291F"/>
          </a:solidFill>
          <a:ln w="12700">
            <a:solidFill>
              <a:srgbClr val="1E3B2E"/>
            </a:solidFill>
            <a:prstDash val="solid"/>
          </a:ln>
        </p:spPr>
        <p:txBody>
          <a:bodyPr/>
          <a:p/>
        </p:txBody>
      </p:sp>
      <p:sp>
        <p:nvSpPr>
          <p:cNvPr id="9" name="Text 7"/>
          <p:cNvSpPr/>
          <p:nvPr/>
        </p:nvSpPr>
        <p:spPr>
          <a:xfrm>
            <a:off x="6400800" y="1691640"/>
            <a:ext cx="4937760" cy="365760"/>
          </a:xfrm>
          <a:prstGeom prst="rect">
            <a:avLst/>
          </a:prstGeom>
          <a:noFill/>
          <a:ln/>
        </p:spPr>
        <p:txBody>
          <a:bodyPr wrap="square" lIns="0" tIns="0" rIns="0" bIns="0" rtlCol="0" anchor="ctr"/>
          <a:lstStyle/>
          <a:p>
            <a:pPr indent="0" marL="0">
              <a:buNone/>
            </a:pPr>
            <a:r>
              <a:rPr lang="en-US" sz="1500" b="1" dirty="0">
                <a:solidFill>
                  <a:srgbClr val="6EE7B7"/>
                </a:solidFill>
                <a:latin typeface="Calibri" pitchFamily="34" charset="0"/>
                <a:ea typeface="Calibri" pitchFamily="34" charset="-122"/>
                <a:cs typeface="Calibri" pitchFamily="34" charset="-120"/>
              </a:rPr>
              <a:t>A defect found by end to end testing</a:t>
            </a:r>
            <a:endParaRPr lang="en-US" sz="1500" dirty="0"/>
          </a:p>
        </p:txBody>
      </p:sp>
      <p:sp>
        <p:nvSpPr>
          <p:cNvPr id="10" name="Text 8"/>
          <p:cNvSpPr/>
          <p:nvPr/>
        </p:nvSpPr>
        <p:spPr>
          <a:xfrm>
            <a:off x="6400800" y="2148840"/>
            <a:ext cx="4937760" cy="1600200"/>
          </a:xfrm>
          <a:prstGeom prst="rect">
            <a:avLst/>
          </a:prstGeom>
          <a:noFill/>
          <a:ln/>
        </p:spPr>
        <p:txBody>
          <a:bodyPr wrap="square" lIns="0" tIns="0" rIns="0" bIns="0" rtlCol="0" anchor="t"/>
          <a:lstStyle/>
          <a:p>
            <a:pPr indent="0" marL="0">
              <a:lnSpc>
                <a:spcPct val="112000"/>
              </a:lnSpc>
              <a:buNone/>
            </a:pPr>
            <a:r>
              <a:rPr lang="en-US" sz="1300" dirty="0">
                <a:solidFill>
                  <a:srgbClr val="E9F6EF"/>
                </a:solidFill>
                <a:latin typeface="Calibri" pitchFamily="34" charset="0"/>
                <a:ea typeface="Calibri" pitchFamily="34" charset="-122"/>
                <a:cs typeface="Calibri" pitchFamily="34" charset="-120"/>
              </a:rPr>
              <a:t>Ticker filtering ran after global top k selection, so a company's own passages were discarded before the filter applied. Fixing the order raised the FinanceBench hit rate </a:t>
            </a:r>
            <a:pPr indent="0" marL="0">
              <a:lnSpc>
                <a:spcPct val="112000"/>
              </a:lnSpc>
              <a:buNone/>
            </a:pPr>
            <a:r>
              <a:rPr lang="en-US" sz="1300" b="1" dirty="0">
                <a:solidFill>
                  <a:srgbClr val="34D399"/>
                </a:solidFill>
                <a:latin typeface="Calibri" pitchFamily="34" charset="0"/>
                <a:ea typeface="Calibri" pitchFamily="34" charset="-122"/>
                <a:cs typeface="Calibri" pitchFamily="34" charset="-120"/>
              </a:rPr>
              <a:t>from 54.8% to 96.8%</a:t>
            </a:r>
            <a:pPr indent="0" marL="0">
              <a:lnSpc>
                <a:spcPct val="112000"/>
              </a:lnSpc>
              <a:buNone/>
            </a:pPr>
            <a:r>
              <a:rPr lang="en-US" sz="1300" dirty="0">
                <a:solidFill>
                  <a:srgbClr val="E9F6EF"/>
                </a:solidFill>
                <a:latin typeface="Calibri" pitchFamily="34" charset="0"/>
                <a:ea typeface="Calibri" pitchFamily="34" charset="-122"/>
                <a:cs typeface="Calibri" pitchFamily="34" charset="-120"/>
              </a:rPr>
              <a:t>, and lifted the measured reranking gain from 3.2 to 12.9 points.</a:t>
            </a:r>
            <a:endParaRPr lang="en-US" sz="1300" dirty="0"/>
          </a:p>
        </p:txBody>
      </p:sp>
      <p:sp>
        <p:nvSpPr>
          <p:cNvPr id="11" name="Shape 9"/>
          <p:cNvSpPr/>
          <p:nvPr/>
        </p:nvSpPr>
        <p:spPr>
          <a:xfrm>
            <a:off x="640080" y="4114800"/>
            <a:ext cx="10881360" cy="1828800"/>
          </a:xfrm>
          <a:prstGeom prst="roundRect">
            <a:avLst>
              <a:gd name="adj" fmla="val 5000"/>
            </a:avLst>
          </a:prstGeom>
          <a:solidFill>
            <a:srgbClr val="10251B"/>
          </a:solidFill>
          <a:ln w="12700">
            <a:solidFill>
              <a:srgbClr val="1E3B2E"/>
            </a:solidFill>
            <a:prstDash val="solid"/>
          </a:ln>
        </p:spPr>
        <p:txBody>
          <a:bodyPr/>
          <a:p/>
        </p:txBody>
      </p:sp>
      <p:sp>
        <p:nvSpPr>
          <p:cNvPr id="12" name="Text 10"/>
          <p:cNvSpPr/>
          <p:nvPr/>
        </p:nvSpPr>
        <p:spPr>
          <a:xfrm>
            <a:off x="914400" y="4251960"/>
            <a:ext cx="10332720" cy="365760"/>
          </a:xfrm>
          <a:prstGeom prst="rect">
            <a:avLst/>
          </a:prstGeom>
          <a:noFill/>
          <a:ln/>
        </p:spPr>
        <p:txBody>
          <a:bodyPr wrap="square" lIns="0" tIns="0" rIns="0" bIns="0" rtlCol="0" anchor="ctr"/>
          <a:lstStyle/>
          <a:p>
            <a:pPr indent="0" marL="0">
              <a:buNone/>
            </a:pPr>
            <a:r>
              <a:rPr lang="en-US" sz="1500" b="1" dirty="0">
                <a:solidFill>
                  <a:srgbClr val="F0A868"/>
                </a:solidFill>
                <a:latin typeface="Calibri" pitchFamily="34" charset="0"/>
                <a:ea typeface="Calibri" pitchFamily="34" charset="-122"/>
                <a:cs typeface="Calibri" pitchFamily="34" charset="-120"/>
              </a:rPr>
              <a:t>Where the agent still fails</a:t>
            </a:r>
            <a:endParaRPr lang="en-US" sz="1500" dirty="0"/>
          </a:p>
        </p:txBody>
      </p:sp>
      <p:sp>
        <p:nvSpPr>
          <p:cNvPr id="13" name="Text 11"/>
          <p:cNvSpPr/>
          <p:nvPr/>
        </p:nvSpPr>
        <p:spPr>
          <a:xfrm>
            <a:off x="914400" y="4709160"/>
            <a:ext cx="10332720" cy="1097280"/>
          </a:xfrm>
          <a:prstGeom prst="rect">
            <a:avLst/>
          </a:prstGeom>
          <a:noFill/>
          <a:ln/>
        </p:spPr>
        <p:txBody>
          <a:bodyPr wrap="square" lIns="0" tIns="0" rIns="0" bIns="0" rtlCol="0" anchor="t"/>
          <a:lstStyle/>
          <a:p>
            <a:pPr indent="0" marL="0">
              <a:lnSpc>
                <a:spcPct val="115000"/>
              </a:lnSpc>
              <a:buNone/>
            </a:pPr>
            <a:r>
              <a:rPr lang="en-US" sz="1400" dirty="0">
                <a:solidFill>
                  <a:srgbClr val="E9F6EF"/>
                </a:solidFill>
                <a:latin typeface="Calibri" pitchFamily="34" charset="0"/>
                <a:ea typeface="Calibri" pitchFamily="34" charset="-122"/>
                <a:cs typeface="Calibri" pitchFamily="34" charset="-120"/>
              </a:rPr>
              <a:t>One compound GCC question asks for two quantities at once, the owner equity and the earnings per share of the KFH Bahrain entity, and the agent occasionally returns only one. This is answer scoping, not a retrieval failure, and it is the residual gap behind the 96.8 percent mean.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RESPONSIBLE AI</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Grounded by design, modest by footprint</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13 / 16</a:t>
            </a:r>
            <a:endParaRPr lang="en-US" sz="900" dirty="0"/>
          </a:p>
        </p:txBody>
      </p:sp>
      <p:sp>
        <p:nvSpPr>
          <p:cNvPr id="5" name="Shape 3"/>
          <p:cNvSpPr/>
          <p:nvPr/>
        </p:nvSpPr>
        <p:spPr>
          <a:xfrm>
            <a:off x="640080" y="1600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6" name="Shape 4"/>
          <p:cNvSpPr/>
          <p:nvPr/>
        </p:nvSpPr>
        <p:spPr>
          <a:xfrm>
            <a:off x="896112" y="1856232"/>
            <a:ext cx="548640" cy="548640"/>
          </a:xfrm>
          <a:prstGeom prst="ellipse">
            <a:avLst/>
          </a:prstGeom>
          <a:solidFill>
            <a:srgbClr val="163427"/>
          </a:solidFill>
          <a:ln w="15875">
            <a:solidFill>
              <a:srgbClr val="34D399"/>
            </a:solidFill>
            <a:prstDash val="solid"/>
          </a:ln>
        </p:spPr>
        <p:txBody>
          <a:bodyPr/>
          <a:p/>
        </p:txBody>
      </p:sp>
      <p:sp>
        <p:nvSpPr>
          <p:cNvPr id="7" name="Text 5"/>
          <p:cNvSpPr/>
          <p:nvPr/>
        </p:nvSpPr>
        <p:spPr>
          <a:xfrm>
            <a:off x="896112" y="1856232"/>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00200" y="1856232"/>
            <a:ext cx="4023360" cy="566928"/>
          </a:xfrm>
          <a:prstGeom prst="rect">
            <a:avLst/>
          </a:prstGeom>
          <a:noFill/>
          <a:ln/>
        </p:spPr>
        <p:txBody>
          <a:bodyPr wrap="square" lIns="0" tIns="0" rIns="0" bIns="0" rtlCol="0" anchor="ctr"/>
          <a:lstStyle/>
          <a:p>
            <a:pPr indent="0" marL="0">
              <a:buNone/>
            </a:pPr>
            <a:r>
              <a:rPr lang="en-US" sz="1550" b="1" dirty="0">
                <a:solidFill>
                  <a:srgbClr val="34D399"/>
                </a:solidFill>
                <a:latin typeface="Calibri" pitchFamily="34" charset="0"/>
                <a:ea typeface="Calibri" pitchFamily="34" charset="-122"/>
                <a:cs typeface="Calibri" pitchFamily="34" charset="-120"/>
              </a:rPr>
              <a:t>Grounding and abstention</a:t>
            </a:r>
            <a:endParaRPr lang="en-US" sz="1550" dirty="0"/>
          </a:p>
        </p:txBody>
      </p:sp>
      <p:sp>
        <p:nvSpPr>
          <p:cNvPr id="9" name="Text 7"/>
          <p:cNvSpPr/>
          <p:nvPr/>
        </p:nvSpPr>
        <p:spPr>
          <a:xfrm>
            <a:off x="896112" y="2532888"/>
            <a:ext cx="4709160" cy="100584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When no evidence is retrieved the agent abstains. Closed book faithfulness of zero is by design, not a defect.</a:t>
            </a:r>
            <a:endParaRPr lang="en-US" sz="1350" dirty="0"/>
          </a:p>
        </p:txBody>
      </p:sp>
      <p:sp>
        <p:nvSpPr>
          <p:cNvPr id="10" name="Shape 8"/>
          <p:cNvSpPr/>
          <p:nvPr/>
        </p:nvSpPr>
        <p:spPr>
          <a:xfrm>
            <a:off x="6126480" y="1600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11" name="Shape 9"/>
          <p:cNvSpPr/>
          <p:nvPr/>
        </p:nvSpPr>
        <p:spPr>
          <a:xfrm>
            <a:off x="6382512" y="1856232"/>
            <a:ext cx="548640" cy="548640"/>
          </a:xfrm>
          <a:prstGeom prst="ellipse">
            <a:avLst/>
          </a:prstGeom>
          <a:solidFill>
            <a:srgbClr val="163427"/>
          </a:solidFill>
          <a:ln w="15875">
            <a:solidFill>
              <a:srgbClr val="34D399"/>
            </a:solidFill>
            <a:prstDash val="solid"/>
          </a:ln>
        </p:spPr>
        <p:txBody>
          <a:bodyPr/>
          <a:p/>
        </p:txBody>
      </p:sp>
      <p:sp>
        <p:nvSpPr>
          <p:cNvPr id="12" name="Text 10"/>
          <p:cNvSpPr/>
          <p:nvPr/>
        </p:nvSpPr>
        <p:spPr>
          <a:xfrm>
            <a:off x="6382512" y="1856232"/>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7086600" y="1856232"/>
            <a:ext cx="4023360" cy="566928"/>
          </a:xfrm>
          <a:prstGeom prst="rect">
            <a:avLst/>
          </a:prstGeom>
          <a:noFill/>
          <a:ln/>
        </p:spPr>
        <p:txBody>
          <a:bodyPr wrap="square" lIns="0" tIns="0" rIns="0" bIns="0" rtlCol="0" anchor="ctr"/>
          <a:lstStyle/>
          <a:p>
            <a:pPr indent="0" marL="0">
              <a:buNone/>
            </a:pPr>
            <a:r>
              <a:rPr lang="en-US" sz="1550" b="1" dirty="0">
                <a:solidFill>
                  <a:srgbClr val="34D399"/>
                </a:solidFill>
                <a:latin typeface="Calibri" pitchFamily="34" charset="0"/>
                <a:ea typeface="Calibri" pitchFamily="34" charset="-122"/>
                <a:cs typeface="Calibri" pitchFamily="34" charset="-120"/>
              </a:rPr>
              <a:t>Privacy</a:t>
            </a:r>
            <a:endParaRPr lang="en-US" sz="1550" dirty="0"/>
          </a:p>
        </p:txBody>
      </p:sp>
      <p:sp>
        <p:nvSpPr>
          <p:cNvPr id="14" name="Text 12"/>
          <p:cNvSpPr/>
          <p:nvPr/>
        </p:nvSpPr>
        <p:spPr>
          <a:xfrm>
            <a:off x="6382512" y="2532888"/>
            <a:ext cx="4709160" cy="100584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Public regulatory filings only. No personal data is gathered or stored.</a:t>
            </a:r>
            <a:endParaRPr lang="en-US" sz="1350" dirty="0"/>
          </a:p>
        </p:txBody>
      </p:sp>
      <p:sp>
        <p:nvSpPr>
          <p:cNvPr id="15" name="Shape 13"/>
          <p:cNvSpPr/>
          <p:nvPr/>
        </p:nvSpPr>
        <p:spPr>
          <a:xfrm>
            <a:off x="640080" y="3886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16" name="Shape 14"/>
          <p:cNvSpPr/>
          <p:nvPr/>
        </p:nvSpPr>
        <p:spPr>
          <a:xfrm>
            <a:off x="896112" y="4142232"/>
            <a:ext cx="548640" cy="548640"/>
          </a:xfrm>
          <a:prstGeom prst="ellipse">
            <a:avLst/>
          </a:prstGeom>
          <a:solidFill>
            <a:srgbClr val="163427"/>
          </a:solidFill>
          <a:ln w="15875">
            <a:solidFill>
              <a:srgbClr val="34D399"/>
            </a:solidFill>
            <a:prstDash val="solid"/>
          </a:ln>
        </p:spPr>
        <p:txBody>
          <a:bodyPr/>
          <a:p/>
        </p:txBody>
      </p:sp>
      <p:sp>
        <p:nvSpPr>
          <p:cNvPr id="17" name="Text 15"/>
          <p:cNvSpPr/>
          <p:nvPr/>
        </p:nvSpPr>
        <p:spPr>
          <a:xfrm>
            <a:off x="896112" y="4142232"/>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00200" y="4142232"/>
            <a:ext cx="4023360" cy="566928"/>
          </a:xfrm>
          <a:prstGeom prst="rect">
            <a:avLst/>
          </a:prstGeom>
          <a:noFill/>
          <a:ln/>
        </p:spPr>
        <p:txBody>
          <a:bodyPr wrap="square" lIns="0" tIns="0" rIns="0" bIns="0" rtlCol="0" anchor="ctr"/>
          <a:lstStyle/>
          <a:p>
            <a:pPr indent="0" marL="0">
              <a:buNone/>
            </a:pPr>
            <a:r>
              <a:rPr lang="en-US" sz="1550" b="1" dirty="0">
                <a:solidFill>
                  <a:srgbClr val="34D399"/>
                </a:solidFill>
                <a:latin typeface="Calibri" pitchFamily="34" charset="0"/>
                <a:ea typeface="Calibri" pitchFamily="34" charset="-122"/>
                <a:cs typeface="Calibri" pitchFamily="34" charset="-120"/>
              </a:rPr>
              <a:t>Misuse</a:t>
            </a:r>
            <a:endParaRPr lang="en-US" sz="1550" dirty="0"/>
          </a:p>
        </p:txBody>
      </p:sp>
      <p:sp>
        <p:nvSpPr>
          <p:cNvPr id="19" name="Text 17"/>
          <p:cNvSpPr/>
          <p:nvPr/>
        </p:nvSpPr>
        <p:spPr>
          <a:xfrm>
            <a:off x="896112" y="4818888"/>
            <a:ext cx="4709160" cy="100584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Every answer ends with an advisory only disclaimer. The system supports a decision, it does not make one.</a:t>
            </a:r>
            <a:endParaRPr lang="en-US" sz="1350" dirty="0"/>
          </a:p>
        </p:txBody>
      </p:sp>
      <p:sp>
        <p:nvSpPr>
          <p:cNvPr id="20" name="Shape 18"/>
          <p:cNvSpPr/>
          <p:nvPr/>
        </p:nvSpPr>
        <p:spPr>
          <a:xfrm>
            <a:off x="6126480" y="3886200"/>
            <a:ext cx="5212080" cy="2057400"/>
          </a:xfrm>
          <a:prstGeom prst="roundRect">
            <a:avLst>
              <a:gd name="adj" fmla="val 4444"/>
            </a:avLst>
          </a:prstGeom>
          <a:solidFill>
            <a:srgbClr val="13291F"/>
          </a:solidFill>
          <a:ln w="12700">
            <a:solidFill>
              <a:srgbClr val="1E3B2E"/>
            </a:solidFill>
            <a:prstDash val="solid"/>
          </a:ln>
        </p:spPr>
        <p:txBody>
          <a:bodyPr/>
          <a:p/>
        </p:txBody>
      </p:sp>
      <p:sp>
        <p:nvSpPr>
          <p:cNvPr id="21" name="Shape 19"/>
          <p:cNvSpPr/>
          <p:nvPr/>
        </p:nvSpPr>
        <p:spPr>
          <a:xfrm>
            <a:off x="6382512" y="4142232"/>
            <a:ext cx="548640" cy="548640"/>
          </a:xfrm>
          <a:prstGeom prst="ellipse">
            <a:avLst/>
          </a:prstGeom>
          <a:solidFill>
            <a:srgbClr val="163427"/>
          </a:solidFill>
          <a:ln w="15875">
            <a:solidFill>
              <a:srgbClr val="34D399"/>
            </a:solidFill>
            <a:prstDash val="solid"/>
          </a:ln>
        </p:spPr>
        <p:txBody>
          <a:bodyPr/>
          <a:p/>
        </p:txBody>
      </p:sp>
      <p:sp>
        <p:nvSpPr>
          <p:cNvPr id="22" name="Text 20"/>
          <p:cNvSpPr/>
          <p:nvPr/>
        </p:nvSpPr>
        <p:spPr>
          <a:xfrm>
            <a:off x="6382512" y="4142232"/>
            <a:ext cx="548640" cy="548640"/>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086600" y="4142232"/>
            <a:ext cx="4023360" cy="566928"/>
          </a:xfrm>
          <a:prstGeom prst="rect">
            <a:avLst/>
          </a:prstGeom>
          <a:noFill/>
          <a:ln/>
        </p:spPr>
        <p:txBody>
          <a:bodyPr wrap="square" lIns="0" tIns="0" rIns="0" bIns="0" rtlCol="0" anchor="ctr"/>
          <a:lstStyle/>
          <a:p>
            <a:pPr indent="0" marL="0">
              <a:buNone/>
            </a:pPr>
            <a:r>
              <a:rPr lang="en-US" sz="1550" b="1" dirty="0">
                <a:solidFill>
                  <a:srgbClr val="34D399"/>
                </a:solidFill>
                <a:latin typeface="Calibri" pitchFamily="34" charset="0"/>
                <a:ea typeface="Calibri" pitchFamily="34" charset="-122"/>
                <a:cs typeface="Calibri" pitchFamily="34" charset="-120"/>
              </a:rPr>
              <a:t>Environment</a:t>
            </a:r>
            <a:endParaRPr lang="en-US" sz="1550" dirty="0"/>
          </a:p>
        </p:txBody>
      </p:sp>
      <p:sp>
        <p:nvSpPr>
          <p:cNvPr id="24" name="Text 22"/>
          <p:cNvSpPr/>
          <p:nvPr/>
        </p:nvSpPr>
        <p:spPr>
          <a:xfrm>
            <a:off x="6382512" y="4818888"/>
            <a:ext cx="4709160" cy="1005840"/>
          </a:xfrm>
          <a:prstGeom prst="rect">
            <a:avLst/>
          </a:prstGeom>
          <a:noFill/>
          <a:ln/>
        </p:spPr>
        <p:txBody>
          <a:bodyPr wrap="square" lIns="0" tIns="0" rIns="0" bIns="0" rtlCol="0" anchor="t"/>
          <a:lstStyle/>
          <a:p>
            <a:pPr indent="0" marL="0">
              <a:lnSpc>
                <a:spcPct val="115000"/>
              </a:lnSpc>
              <a:buNone/>
            </a:pPr>
            <a:r>
              <a:rPr lang="en-US" sz="1350" dirty="0">
                <a:solidFill>
                  <a:srgbClr val="E9F6EF"/>
                </a:solidFill>
                <a:latin typeface="Calibri" pitchFamily="34" charset="0"/>
                <a:ea typeface="Calibri" pitchFamily="34" charset="-122"/>
                <a:cs typeface="Calibri" pitchFamily="34" charset="-120"/>
              </a:rPr>
              <a:t>No model training. The corpus is embedded once and inference is a few short flash calls per query.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CONTRIBUTIONS</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What this thesis contributes</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14 / 16</a:t>
            </a:r>
            <a:endParaRPr lang="en-US" sz="900" dirty="0"/>
          </a:p>
        </p:txBody>
      </p:sp>
      <p:sp>
        <p:nvSpPr>
          <p:cNvPr id="5" name="Shape 3"/>
          <p:cNvSpPr/>
          <p:nvPr/>
        </p:nvSpPr>
        <p:spPr>
          <a:xfrm>
            <a:off x="640080" y="1600200"/>
            <a:ext cx="10881360" cy="1005840"/>
          </a:xfrm>
          <a:prstGeom prst="roundRect">
            <a:avLst>
              <a:gd name="adj" fmla="val 8182"/>
            </a:avLst>
          </a:prstGeom>
          <a:solidFill>
            <a:srgbClr val="13291F"/>
          </a:solidFill>
          <a:ln w="12700">
            <a:solidFill>
              <a:srgbClr val="1E3B2E"/>
            </a:solidFill>
            <a:prstDash val="solid"/>
          </a:ln>
        </p:spPr>
        <p:txBody>
          <a:bodyPr/>
          <a:p/>
        </p:txBody>
      </p:sp>
      <p:sp>
        <p:nvSpPr>
          <p:cNvPr id="6" name="Shape 4"/>
          <p:cNvSpPr/>
          <p:nvPr/>
        </p:nvSpPr>
        <p:spPr>
          <a:xfrm>
            <a:off x="896112" y="1819656"/>
            <a:ext cx="566928" cy="566928"/>
          </a:xfrm>
          <a:prstGeom prst="ellipse">
            <a:avLst/>
          </a:prstGeom>
          <a:solidFill>
            <a:srgbClr val="163427"/>
          </a:solidFill>
          <a:ln w="15875">
            <a:solidFill>
              <a:srgbClr val="34D399"/>
            </a:solidFill>
            <a:prstDash val="solid"/>
          </a:ln>
        </p:spPr>
        <p:txBody>
          <a:bodyPr/>
          <a:p/>
        </p:txBody>
      </p:sp>
      <p:sp>
        <p:nvSpPr>
          <p:cNvPr id="7" name="Text 5"/>
          <p:cNvSpPr/>
          <p:nvPr/>
        </p:nvSpPr>
        <p:spPr>
          <a:xfrm>
            <a:off x="896112" y="1819656"/>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91640" y="1655064"/>
            <a:ext cx="9601200" cy="914400"/>
          </a:xfrm>
          <a:prstGeom prst="rect">
            <a:avLst/>
          </a:prstGeom>
          <a:noFill/>
          <a:ln/>
        </p:spPr>
        <p:txBody>
          <a:bodyPr wrap="square" lIns="0" tIns="0" rIns="0" bIns="0" rtlCol="0" anchor="ctr"/>
          <a:lstStyle/>
          <a:p>
            <a:pPr indent="0" marL="0">
              <a:lnSpc>
                <a:spcPct val="110000"/>
              </a:lnSpc>
              <a:buNone/>
            </a:pPr>
            <a:r>
              <a:rPr lang="en-US" sz="1450" dirty="0">
                <a:solidFill>
                  <a:srgbClr val="E9F6EF"/>
                </a:solidFill>
                <a:latin typeface="Calibri" pitchFamily="34" charset="0"/>
                <a:ea typeface="Calibri" pitchFamily="34" charset="-122"/>
                <a:cs typeface="Calibri" pitchFamily="34" charset="-120"/>
              </a:rPr>
              <a:t>A single system that unifies hybrid retrieval, agentic tool use, and answer level explainability for corporate governance advisory.</a:t>
            </a:r>
            <a:endParaRPr lang="en-US" sz="1450" dirty="0"/>
          </a:p>
        </p:txBody>
      </p:sp>
      <p:sp>
        <p:nvSpPr>
          <p:cNvPr id="9" name="Shape 7"/>
          <p:cNvSpPr/>
          <p:nvPr/>
        </p:nvSpPr>
        <p:spPr>
          <a:xfrm>
            <a:off x="640080" y="2770632"/>
            <a:ext cx="10881360" cy="1005840"/>
          </a:xfrm>
          <a:prstGeom prst="roundRect">
            <a:avLst>
              <a:gd name="adj" fmla="val 8182"/>
            </a:avLst>
          </a:prstGeom>
          <a:solidFill>
            <a:srgbClr val="13291F"/>
          </a:solidFill>
          <a:ln w="12700">
            <a:solidFill>
              <a:srgbClr val="1E3B2E"/>
            </a:solidFill>
            <a:prstDash val="solid"/>
          </a:ln>
        </p:spPr>
        <p:txBody>
          <a:bodyPr/>
          <a:p/>
        </p:txBody>
      </p:sp>
      <p:sp>
        <p:nvSpPr>
          <p:cNvPr id="10" name="Shape 8"/>
          <p:cNvSpPr/>
          <p:nvPr/>
        </p:nvSpPr>
        <p:spPr>
          <a:xfrm>
            <a:off x="896112" y="2990088"/>
            <a:ext cx="566928" cy="566928"/>
          </a:xfrm>
          <a:prstGeom prst="ellipse">
            <a:avLst/>
          </a:prstGeom>
          <a:solidFill>
            <a:srgbClr val="163427"/>
          </a:solidFill>
          <a:ln w="15875">
            <a:solidFill>
              <a:srgbClr val="34D399"/>
            </a:solidFill>
            <a:prstDash val="solid"/>
          </a:ln>
        </p:spPr>
        <p:txBody>
          <a:bodyPr/>
          <a:p/>
        </p:txBody>
      </p:sp>
      <p:sp>
        <p:nvSpPr>
          <p:cNvPr id="11" name="Text 9"/>
          <p:cNvSpPr/>
          <p:nvPr/>
        </p:nvSpPr>
        <p:spPr>
          <a:xfrm>
            <a:off x="896112" y="2990088"/>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825496"/>
            <a:ext cx="9601200" cy="914400"/>
          </a:xfrm>
          <a:prstGeom prst="rect">
            <a:avLst/>
          </a:prstGeom>
          <a:noFill/>
          <a:ln/>
        </p:spPr>
        <p:txBody>
          <a:bodyPr wrap="square" lIns="0" tIns="0" rIns="0" bIns="0" rtlCol="0" anchor="ctr"/>
          <a:lstStyle/>
          <a:p>
            <a:pPr indent="0" marL="0">
              <a:lnSpc>
                <a:spcPct val="110000"/>
              </a:lnSpc>
              <a:buNone/>
            </a:pPr>
            <a:r>
              <a:rPr lang="en-US" sz="1450" dirty="0">
                <a:solidFill>
                  <a:srgbClr val="E9F6EF"/>
                </a:solidFill>
                <a:latin typeface="Calibri" pitchFamily="34" charset="0"/>
                <a:ea typeface="Calibri" pitchFamily="34" charset="-122"/>
                <a:cs typeface="Calibri" pitchFamily="34" charset="-120"/>
              </a:rPr>
              <a:t>A cross market evaluation of that system on a United States benchmark and on hand verified Gulf Cooperation Council filings.</a:t>
            </a:r>
            <a:endParaRPr lang="en-US" sz="1450" dirty="0"/>
          </a:p>
        </p:txBody>
      </p:sp>
      <p:sp>
        <p:nvSpPr>
          <p:cNvPr id="13" name="Shape 11"/>
          <p:cNvSpPr/>
          <p:nvPr/>
        </p:nvSpPr>
        <p:spPr>
          <a:xfrm>
            <a:off x="640080" y="3941064"/>
            <a:ext cx="10881360" cy="1005840"/>
          </a:xfrm>
          <a:prstGeom prst="roundRect">
            <a:avLst>
              <a:gd name="adj" fmla="val 8182"/>
            </a:avLst>
          </a:prstGeom>
          <a:solidFill>
            <a:srgbClr val="13291F"/>
          </a:solidFill>
          <a:ln w="12700">
            <a:solidFill>
              <a:srgbClr val="1E3B2E"/>
            </a:solidFill>
            <a:prstDash val="solid"/>
          </a:ln>
        </p:spPr>
        <p:txBody>
          <a:bodyPr/>
          <a:p/>
        </p:txBody>
      </p:sp>
      <p:sp>
        <p:nvSpPr>
          <p:cNvPr id="14" name="Shape 12"/>
          <p:cNvSpPr/>
          <p:nvPr/>
        </p:nvSpPr>
        <p:spPr>
          <a:xfrm>
            <a:off x="896112" y="4160520"/>
            <a:ext cx="566928" cy="566928"/>
          </a:xfrm>
          <a:prstGeom prst="ellipse">
            <a:avLst/>
          </a:prstGeom>
          <a:solidFill>
            <a:srgbClr val="163427"/>
          </a:solidFill>
          <a:ln w="15875">
            <a:solidFill>
              <a:srgbClr val="34D399"/>
            </a:solidFill>
            <a:prstDash val="solid"/>
          </a:ln>
        </p:spPr>
        <p:txBody>
          <a:bodyPr/>
          <a:p/>
        </p:txBody>
      </p:sp>
      <p:sp>
        <p:nvSpPr>
          <p:cNvPr id="15" name="Text 13"/>
          <p:cNvSpPr/>
          <p:nvPr/>
        </p:nvSpPr>
        <p:spPr>
          <a:xfrm>
            <a:off x="896112" y="4160520"/>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691640" y="3995928"/>
            <a:ext cx="9601200" cy="914400"/>
          </a:xfrm>
          <a:prstGeom prst="rect">
            <a:avLst/>
          </a:prstGeom>
          <a:noFill/>
          <a:ln/>
        </p:spPr>
        <p:txBody>
          <a:bodyPr wrap="square" lIns="0" tIns="0" rIns="0" bIns="0" rtlCol="0" anchor="ctr"/>
          <a:lstStyle/>
          <a:p>
            <a:pPr indent="0" marL="0">
              <a:lnSpc>
                <a:spcPct val="110000"/>
              </a:lnSpc>
              <a:buNone/>
            </a:pPr>
            <a:r>
              <a:rPr lang="en-US" sz="1450" dirty="0">
                <a:solidFill>
                  <a:srgbClr val="E9F6EF"/>
                </a:solidFill>
                <a:latin typeface="Calibri" pitchFamily="34" charset="0"/>
                <a:ea typeface="Calibri" pitchFamily="34" charset="-122"/>
                <a:cs typeface="Calibri" pitchFamily="34" charset="-120"/>
              </a:rPr>
              <a:t>An honest component ablation and a documented, corrected retrieval defect, offered as a transferable engineering lesson.</a:t>
            </a:r>
            <a:endParaRPr lang="en-US" sz="1450" dirty="0"/>
          </a:p>
        </p:txBody>
      </p:sp>
      <p:sp>
        <p:nvSpPr>
          <p:cNvPr id="17" name="Shape 15"/>
          <p:cNvSpPr/>
          <p:nvPr/>
        </p:nvSpPr>
        <p:spPr>
          <a:xfrm>
            <a:off x="640080" y="5111496"/>
            <a:ext cx="10881360" cy="1005840"/>
          </a:xfrm>
          <a:prstGeom prst="roundRect">
            <a:avLst>
              <a:gd name="adj" fmla="val 8182"/>
            </a:avLst>
          </a:prstGeom>
          <a:solidFill>
            <a:srgbClr val="13291F"/>
          </a:solidFill>
          <a:ln w="12700">
            <a:solidFill>
              <a:srgbClr val="1E3B2E"/>
            </a:solidFill>
            <a:prstDash val="solid"/>
          </a:ln>
        </p:spPr>
        <p:txBody>
          <a:bodyPr/>
          <a:p/>
        </p:txBody>
      </p:sp>
      <p:sp>
        <p:nvSpPr>
          <p:cNvPr id="18" name="Shape 16"/>
          <p:cNvSpPr/>
          <p:nvPr/>
        </p:nvSpPr>
        <p:spPr>
          <a:xfrm>
            <a:off x="896112" y="5330952"/>
            <a:ext cx="566928" cy="566928"/>
          </a:xfrm>
          <a:prstGeom prst="ellipse">
            <a:avLst/>
          </a:prstGeom>
          <a:solidFill>
            <a:srgbClr val="163427"/>
          </a:solidFill>
          <a:ln w="15875">
            <a:solidFill>
              <a:srgbClr val="34D399"/>
            </a:solidFill>
            <a:prstDash val="solid"/>
          </a:ln>
        </p:spPr>
        <p:txBody>
          <a:bodyPr/>
          <a:p/>
        </p:txBody>
      </p:sp>
      <p:sp>
        <p:nvSpPr>
          <p:cNvPr id="19" name="Text 17"/>
          <p:cNvSpPr/>
          <p:nvPr/>
        </p:nvSpPr>
        <p:spPr>
          <a:xfrm>
            <a:off x="896112" y="5330952"/>
            <a:ext cx="566928" cy="566928"/>
          </a:xfrm>
          <a:prstGeom prst="rect">
            <a:avLst/>
          </a:prstGeom>
          <a:noFill/>
          <a:ln/>
        </p:spPr>
        <p:txBody>
          <a:bodyPr wrap="square" lIns="0" tIns="0" rIns="0" bIns="0" rtlCol="0" anchor="ctr"/>
          <a:lstStyle/>
          <a:p>
            <a:pPr algn="ctr" indent="0" marL="0">
              <a:buNone/>
            </a:pPr>
            <a:r>
              <a:rPr lang="en-US" sz="1400" b="1" dirty="0">
                <a:solidFill>
                  <a:srgbClr val="34D399"/>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691640" y="5166360"/>
            <a:ext cx="9601200" cy="914400"/>
          </a:xfrm>
          <a:prstGeom prst="rect">
            <a:avLst/>
          </a:prstGeom>
          <a:noFill/>
          <a:ln/>
        </p:spPr>
        <p:txBody>
          <a:bodyPr wrap="square" lIns="0" tIns="0" rIns="0" bIns="0" rtlCol="0" anchor="ctr"/>
          <a:lstStyle/>
          <a:p>
            <a:pPr indent="0" marL="0">
              <a:lnSpc>
                <a:spcPct val="110000"/>
              </a:lnSpc>
              <a:buNone/>
            </a:pPr>
            <a:r>
              <a:rPr lang="en-US" sz="1450" dirty="0">
                <a:solidFill>
                  <a:srgbClr val="E9F6EF"/>
                </a:solidFill>
                <a:latin typeface="Calibri" pitchFamily="34" charset="0"/>
                <a:ea typeface="Calibri" pitchFamily="34" charset="-122"/>
                <a:cs typeface="Calibri" pitchFamily="34" charset="-120"/>
              </a:rPr>
              <a:t>A reproducible evaluation harness where every reported result is written to a result file in the public repository.</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E15"/>
        </a:solidFill>
      </p:bgPr>
    </p:bg>
    <p:spTree>
      <p:nvGrpSpPr>
        <p:cNvPr id="1" name=""/>
        <p:cNvGrpSpPr/>
        <p:nvPr/>
      </p:nvGrpSpPr>
      <p:grpSpPr>
        <a:xfrm>
          <a:off x="0" y="0"/>
          <a:ext cx="0" cy="0"/>
          <a:chOff x="0" y="0"/>
          <a:chExt cx="0" cy="0"/>
        </a:xfrm>
      </p:grpSpPr>
      <p:sp>
        <p:nvSpPr>
          <p:cNvPr id="2" name="Text 0"/>
          <p:cNvSpPr/>
          <p:nvPr/>
        </p:nvSpPr>
        <p:spPr>
          <a:xfrm>
            <a:off x="566928" y="182880"/>
            <a:ext cx="10972800" cy="274320"/>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alibri" pitchFamily="34" charset="0"/>
                <a:ea typeface="Calibri" pitchFamily="34" charset="-122"/>
                <a:cs typeface="Calibri" pitchFamily="34" charset="-120"/>
              </a:rPr>
              <a:t>LIMITATIONS AND FUTURE WORK</a:t>
            </a:r>
            <a:endParaRPr lang="en-US" sz="1200" dirty="0"/>
          </a:p>
        </p:txBody>
      </p:sp>
      <p:sp>
        <p:nvSpPr>
          <p:cNvPr id="3" name="Text 1"/>
          <p:cNvSpPr/>
          <p:nvPr/>
        </p:nvSpPr>
        <p:spPr>
          <a:xfrm>
            <a:off x="548640" y="384048"/>
            <a:ext cx="11064240" cy="640080"/>
          </a:xfrm>
          <a:prstGeom prst="rect">
            <a:avLst/>
          </a:prstGeom>
          <a:noFill/>
          <a:ln/>
        </p:spPr>
        <p:txBody>
          <a:bodyPr wrap="square" lIns="0" tIns="0" rIns="0" bIns="0" rtlCol="0" anchor="ctr"/>
          <a:lstStyle/>
          <a:p>
            <a:pPr algn="l" indent="0" marL="0">
              <a:buNone/>
            </a:pPr>
            <a:r>
              <a:rPr lang="en-US" sz="3000" b="1" dirty="0">
                <a:solidFill>
                  <a:srgbClr val="E9F6EF"/>
                </a:solidFill>
                <a:latin typeface="Calibri" pitchFamily="34" charset="0"/>
                <a:ea typeface="Calibri" pitchFamily="34" charset="-122"/>
                <a:cs typeface="Calibri" pitchFamily="34" charset="-120"/>
              </a:rPr>
              <a:t>Honest limits, clear next steps</a:t>
            </a:r>
            <a:endParaRPr lang="en-US" sz="3000" dirty="0"/>
          </a:p>
        </p:txBody>
      </p:sp>
      <p:sp>
        <p:nvSpPr>
          <p:cNvPr id="4" name="Text 2"/>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900" dirty="0">
                <a:solidFill>
                  <a:srgbClr val="8FA89B"/>
                </a:solidFill>
                <a:latin typeface="Calibri" pitchFamily="34" charset="0"/>
                <a:ea typeface="Calibri" pitchFamily="34" charset="-122"/>
                <a:cs typeface="Calibri" pitchFamily="34" charset="-120"/>
              </a:rPr>
              <a:t>15 / 16</a:t>
            </a:r>
            <a:endParaRPr lang="en-US" sz="900" dirty="0"/>
          </a:p>
        </p:txBody>
      </p:sp>
      <p:sp>
        <p:nvSpPr>
          <p:cNvPr id="5" name="Text 3"/>
          <p:cNvSpPr/>
          <p:nvPr/>
        </p:nvSpPr>
        <p:spPr>
          <a:xfrm>
            <a:off x="640080" y="1508760"/>
            <a:ext cx="5212080" cy="411480"/>
          </a:xfrm>
          <a:prstGeom prst="rect">
            <a:avLst/>
          </a:prstGeom>
          <a:noFill/>
          <a:ln/>
        </p:spPr>
        <p:txBody>
          <a:bodyPr wrap="square" lIns="0" tIns="0" rIns="0" bIns="0" rtlCol="0" anchor="ctr"/>
          <a:lstStyle/>
          <a:p>
            <a:pPr indent="0" marL="0">
              <a:buNone/>
            </a:pPr>
            <a:r>
              <a:rPr lang="en-US" sz="1800" b="1" dirty="0">
                <a:solidFill>
                  <a:srgbClr val="F0A868"/>
                </a:solidFill>
                <a:latin typeface="Calibri" pitchFamily="34" charset="0"/>
                <a:ea typeface="Calibri" pitchFamily="34" charset="-122"/>
                <a:cs typeface="Calibri" pitchFamily="34" charset="-120"/>
              </a:rPr>
              <a:t>Limitations</a:t>
            </a:r>
            <a:endParaRPr lang="en-US" sz="1800" dirty="0"/>
          </a:p>
        </p:txBody>
      </p:sp>
      <p:sp>
        <p:nvSpPr>
          <p:cNvPr id="6" name="Text 4"/>
          <p:cNvSpPr/>
          <p:nvPr/>
        </p:nvSpPr>
        <p:spPr>
          <a:xfrm>
            <a:off x="640080" y="2011680"/>
            <a:ext cx="5212080" cy="960120"/>
          </a:xfrm>
          <a:prstGeom prst="rect">
            <a:avLst/>
          </a:prstGeom>
          <a:noFill/>
          <a:ln/>
        </p:spPr>
        <p:txBody>
          <a:bodyPr wrap="square" lIns="0" tIns="0" rIns="0" bIns="0" rtlCol="0" anchor="t"/>
          <a:lstStyle/>
          <a:p>
            <a:pPr indent="0" marL="0">
              <a:lnSpc>
                <a:spcPct val="112000"/>
              </a:lnSpc>
              <a:buNone/>
            </a:pPr>
            <a:r>
              <a:rPr lang="en-US" sz="1350" dirty="0">
                <a:solidFill>
                  <a:srgbClr val="F0A868"/>
                </a:solidFill>
                <a:latin typeface="Calibri" pitchFamily="34" charset="0"/>
                <a:ea typeface="Calibri" pitchFamily="34" charset="-122"/>
                <a:cs typeface="Calibri" pitchFamily="34" charset="-120"/>
              </a:rPr>
              <a:t>•  </a:t>
            </a:r>
            <a:pPr indent="0" marL="0">
              <a:lnSpc>
                <a:spcPct val="112000"/>
              </a:lnSpc>
              <a:buNone/>
            </a:pPr>
            <a:r>
              <a:rPr lang="en-US" sz="1350" dirty="0">
                <a:solidFill>
                  <a:srgbClr val="E9F6EF"/>
                </a:solidFill>
                <a:latin typeface="Calibri" pitchFamily="34" charset="0"/>
                <a:ea typeface="Calibri" pitchFamily="34" charset="-122"/>
                <a:cs typeface="Calibri" pitchFamily="34" charset="-120"/>
              </a:rPr>
              <a:t>The hand verified GCC set is 35 questions, so the McNemar test is underpowered at p 0.0625 despite unbroken direction.</a:t>
            </a:r>
            <a:endParaRPr lang="en-US" sz="1350" dirty="0"/>
          </a:p>
        </p:txBody>
      </p:sp>
      <p:sp>
        <p:nvSpPr>
          <p:cNvPr id="7" name="Text 5"/>
          <p:cNvSpPr/>
          <p:nvPr/>
        </p:nvSpPr>
        <p:spPr>
          <a:xfrm>
            <a:off x="640080" y="3063240"/>
            <a:ext cx="5212080" cy="960120"/>
          </a:xfrm>
          <a:prstGeom prst="rect">
            <a:avLst/>
          </a:prstGeom>
          <a:noFill/>
          <a:ln/>
        </p:spPr>
        <p:txBody>
          <a:bodyPr wrap="square" lIns="0" tIns="0" rIns="0" bIns="0" rtlCol="0" anchor="t"/>
          <a:lstStyle/>
          <a:p>
            <a:pPr indent="0" marL="0">
              <a:lnSpc>
                <a:spcPct val="112000"/>
              </a:lnSpc>
              <a:buNone/>
            </a:pPr>
            <a:r>
              <a:rPr lang="en-US" sz="1350" dirty="0">
                <a:solidFill>
                  <a:srgbClr val="F0A868"/>
                </a:solidFill>
                <a:latin typeface="Calibri" pitchFamily="34" charset="0"/>
                <a:ea typeface="Calibri" pitchFamily="34" charset="-122"/>
                <a:cs typeface="Calibri" pitchFamily="34" charset="-120"/>
              </a:rPr>
              <a:t>•  </a:t>
            </a:r>
            <a:pPr indent="0" marL="0">
              <a:lnSpc>
                <a:spcPct val="112000"/>
              </a:lnSpc>
              <a:buNone/>
            </a:pPr>
            <a:r>
              <a:rPr lang="en-US" sz="1350" dirty="0">
                <a:solidFill>
                  <a:srgbClr val="E9F6EF"/>
                </a:solidFill>
                <a:latin typeface="Calibri" pitchFamily="34" charset="0"/>
                <a:ea typeface="Calibri" pitchFamily="34" charset="-122"/>
                <a:cs typeface="Calibri" pitchFamily="34" charset="-120"/>
              </a:rPr>
              <a:t>A single ReAct agent with three fixed tools; no multi agent routing.</a:t>
            </a:r>
            <a:endParaRPr lang="en-US" sz="1350" dirty="0"/>
          </a:p>
        </p:txBody>
      </p:sp>
      <p:sp>
        <p:nvSpPr>
          <p:cNvPr id="8" name="Text 6"/>
          <p:cNvSpPr/>
          <p:nvPr/>
        </p:nvSpPr>
        <p:spPr>
          <a:xfrm>
            <a:off x="640080" y="4114800"/>
            <a:ext cx="5212080" cy="960120"/>
          </a:xfrm>
          <a:prstGeom prst="rect">
            <a:avLst/>
          </a:prstGeom>
          <a:noFill/>
          <a:ln/>
        </p:spPr>
        <p:txBody>
          <a:bodyPr wrap="square" lIns="0" tIns="0" rIns="0" bIns="0" rtlCol="0" anchor="t"/>
          <a:lstStyle/>
          <a:p>
            <a:pPr indent="0" marL="0">
              <a:lnSpc>
                <a:spcPct val="112000"/>
              </a:lnSpc>
              <a:buNone/>
            </a:pPr>
            <a:r>
              <a:rPr lang="en-US" sz="1350" dirty="0">
                <a:solidFill>
                  <a:srgbClr val="F0A868"/>
                </a:solidFill>
                <a:latin typeface="Calibri" pitchFamily="34" charset="0"/>
                <a:ea typeface="Calibri" pitchFamily="34" charset="-122"/>
                <a:cs typeface="Calibri" pitchFamily="34" charset="-120"/>
              </a:rPr>
              <a:t>•  </a:t>
            </a:r>
            <a:pPr indent="0" marL="0">
              <a:lnSpc>
                <a:spcPct val="112000"/>
              </a:lnSpc>
              <a:buNone/>
            </a:pPr>
            <a:r>
              <a:rPr lang="en-US" sz="1350" dirty="0">
                <a:solidFill>
                  <a:srgbClr val="E9F6EF"/>
                </a:solidFill>
                <a:latin typeface="Calibri" pitchFamily="34" charset="0"/>
                <a:ea typeface="Calibri" pitchFamily="34" charset="-122"/>
                <a:cs typeface="Calibri" pitchFamily="34" charset="-120"/>
              </a:rPr>
              <a:t>FinanceBench measures retrieval only, since its years predate the 2024 to 2026 corpus.</a:t>
            </a:r>
            <a:endParaRPr lang="en-US" sz="1350" dirty="0"/>
          </a:p>
        </p:txBody>
      </p:sp>
      <p:sp>
        <p:nvSpPr>
          <p:cNvPr id="9" name="Text 7"/>
          <p:cNvSpPr/>
          <p:nvPr/>
        </p:nvSpPr>
        <p:spPr>
          <a:xfrm>
            <a:off x="6309360" y="1508760"/>
            <a:ext cx="5212080" cy="411480"/>
          </a:xfrm>
          <a:prstGeom prst="rect">
            <a:avLst/>
          </a:prstGeom>
          <a:noFill/>
          <a:ln/>
        </p:spPr>
        <p:txBody>
          <a:bodyPr wrap="square" lIns="0" tIns="0" rIns="0" bIns="0" rtlCol="0" anchor="ctr"/>
          <a:lstStyle/>
          <a:p>
            <a:pPr indent="0" marL="0">
              <a:buNone/>
            </a:pPr>
            <a:r>
              <a:rPr lang="en-US" sz="1800" b="1" dirty="0">
                <a:solidFill>
                  <a:srgbClr val="34D399"/>
                </a:solidFill>
                <a:latin typeface="Calibri" pitchFamily="34" charset="0"/>
                <a:ea typeface="Calibri" pitchFamily="34" charset="-122"/>
                <a:cs typeface="Calibri" pitchFamily="34" charset="-120"/>
              </a:rPr>
              <a:t>Future work</a:t>
            </a:r>
            <a:endParaRPr lang="en-US" sz="1800" dirty="0"/>
          </a:p>
        </p:txBody>
      </p:sp>
      <p:sp>
        <p:nvSpPr>
          <p:cNvPr id="10" name="Text 8"/>
          <p:cNvSpPr/>
          <p:nvPr/>
        </p:nvSpPr>
        <p:spPr>
          <a:xfrm>
            <a:off x="6309360" y="2011680"/>
            <a:ext cx="5212080" cy="960120"/>
          </a:xfrm>
          <a:prstGeom prst="rect">
            <a:avLst/>
          </a:prstGeom>
          <a:noFill/>
          <a:ln/>
        </p:spPr>
        <p:txBody>
          <a:bodyPr wrap="square" lIns="0" tIns="0" rIns="0" bIns="0" rtlCol="0" anchor="t"/>
          <a:lstStyle/>
          <a:p>
            <a:pPr indent="0" marL="0">
              <a:lnSpc>
                <a:spcPct val="112000"/>
              </a:lnSpc>
              <a:buNone/>
            </a:pPr>
            <a:r>
              <a:rPr lang="en-US" sz="1350" dirty="0">
                <a:solidFill>
                  <a:srgbClr val="34D399"/>
                </a:solidFill>
                <a:latin typeface="Calibri" pitchFamily="34" charset="0"/>
                <a:ea typeface="Calibri" pitchFamily="34" charset="-122"/>
                <a:cs typeface="Calibri" pitchFamily="34" charset="-120"/>
              </a:rPr>
              <a:t>•  </a:t>
            </a:r>
            <a:pPr indent="0" marL="0">
              <a:lnSpc>
                <a:spcPct val="112000"/>
              </a:lnSpc>
              <a:buNone/>
            </a:pPr>
            <a:r>
              <a:rPr lang="en-US" sz="1350" dirty="0">
                <a:solidFill>
                  <a:srgbClr val="E9F6EF"/>
                </a:solidFill>
                <a:latin typeface="Calibri" pitchFamily="34" charset="0"/>
                <a:ea typeface="Calibri" pitchFamily="34" charset="-122"/>
                <a:cs typeface="Calibri" pitchFamily="34" charset="-120"/>
              </a:rPr>
              <a:t>Expand the hand verified GCC set well beyond 35 questions to reach conventional significance.</a:t>
            </a:r>
            <a:endParaRPr lang="en-US" sz="1350" dirty="0"/>
          </a:p>
        </p:txBody>
      </p:sp>
      <p:sp>
        <p:nvSpPr>
          <p:cNvPr id="11" name="Text 9"/>
          <p:cNvSpPr/>
          <p:nvPr/>
        </p:nvSpPr>
        <p:spPr>
          <a:xfrm>
            <a:off x="6309360" y="3063240"/>
            <a:ext cx="5212080" cy="960120"/>
          </a:xfrm>
          <a:prstGeom prst="rect">
            <a:avLst/>
          </a:prstGeom>
          <a:noFill/>
          <a:ln/>
        </p:spPr>
        <p:txBody>
          <a:bodyPr wrap="square" lIns="0" tIns="0" rIns="0" bIns="0" rtlCol="0" anchor="t"/>
          <a:lstStyle/>
          <a:p>
            <a:pPr indent="0" marL="0">
              <a:lnSpc>
                <a:spcPct val="112000"/>
              </a:lnSpc>
              <a:buNone/>
            </a:pPr>
            <a:r>
              <a:rPr lang="en-US" sz="1350" dirty="0">
                <a:solidFill>
                  <a:srgbClr val="34D399"/>
                </a:solidFill>
                <a:latin typeface="Calibri" pitchFamily="34" charset="0"/>
                <a:ea typeface="Calibri" pitchFamily="34" charset="-122"/>
                <a:cs typeface="Calibri" pitchFamily="34" charset="-120"/>
              </a:rPr>
              <a:t>•  </a:t>
            </a:r>
            <a:pPr indent="0" marL="0">
              <a:lnSpc>
                <a:spcPct val="112000"/>
              </a:lnSpc>
              <a:buNone/>
            </a:pPr>
            <a:r>
              <a:rPr lang="en-US" sz="1350" dirty="0">
                <a:solidFill>
                  <a:srgbClr val="E9F6EF"/>
                </a:solidFill>
                <a:latin typeface="Calibri" pitchFamily="34" charset="0"/>
                <a:ea typeface="Calibri" pitchFamily="34" charset="-122"/>
                <a:cs typeface="Calibri" pitchFamily="34" charset="-120"/>
              </a:rPr>
              <a:t>Add multi agent routing and test whether it beats the single agent under the same paired protocol.</a:t>
            </a:r>
            <a:endParaRPr lang="en-US" sz="1350" dirty="0"/>
          </a:p>
        </p:txBody>
      </p:sp>
      <p:sp>
        <p:nvSpPr>
          <p:cNvPr id="12" name="Text 10"/>
          <p:cNvSpPr/>
          <p:nvPr/>
        </p:nvSpPr>
        <p:spPr>
          <a:xfrm>
            <a:off x="6309360" y="4114800"/>
            <a:ext cx="5212080" cy="960120"/>
          </a:xfrm>
          <a:prstGeom prst="rect">
            <a:avLst/>
          </a:prstGeom>
          <a:noFill/>
          <a:ln/>
        </p:spPr>
        <p:txBody>
          <a:bodyPr wrap="square" lIns="0" tIns="0" rIns="0" bIns="0" rtlCol="0" anchor="t"/>
          <a:lstStyle/>
          <a:p>
            <a:pPr indent="0" marL="0">
              <a:lnSpc>
                <a:spcPct val="112000"/>
              </a:lnSpc>
              <a:buNone/>
            </a:pPr>
            <a:r>
              <a:rPr lang="en-US" sz="1350" dirty="0">
                <a:solidFill>
                  <a:srgbClr val="34D399"/>
                </a:solidFill>
                <a:latin typeface="Calibri" pitchFamily="34" charset="0"/>
                <a:ea typeface="Calibri" pitchFamily="34" charset="-122"/>
                <a:cs typeface="Calibri" pitchFamily="34" charset="-120"/>
              </a:rPr>
              <a:t>•  </a:t>
            </a:r>
            <a:pPr indent="0" marL="0">
              <a:lnSpc>
                <a:spcPct val="112000"/>
              </a:lnSpc>
              <a:buNone/>
            </a:pPr>
            <a:r>
              <a:rPr lang="en-US" sz="1350" dirty="0">
                <a:solidFill>
                  <a:srgbClr val="E9F6EF"/>
                </a:solidFill>
                <a:latin typeface="Calibri" pitchFamily="34" charset="0"/>
                <a:ea typeface="Calibri" pitchFamily="34" charset="-122"/>
                <a:cs typeface="Calibri" pitchFamily="34" charset="-120"/>
              </a:rPr>
              <a:t>Broaden GCC coverage and complete the second corpus variance study.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1008"/>
        </a:solidFill>
      </p:bgPr>
    </p:bg>
    <p:spTree>
      <p:nvGrpSpPr>
        <p:cNvPr id="1" name=""/>
        <p:cNvGrpSpPr/>
        <p:nvPr/>
      </p:nvGrpSpPr>
      <p:grpSpPr>
        <a:xfrm>
          <a:off x="0" y="0"/>
          <a:ext cx="0" cy="0"/>
          <a:chOff x="0" y="0"/>
          <a:chExt cx="0" cy="0"/>
        </a:xfrm>
      </p:grpSpPr>
      <p:pic>
        <p:nvPicPr>
          <p:cNvPr id="2" name="Image 0" descr="/Users/hatemisa/Desktop/CyberBoard-AI/src/ui/assets/cyberboard_favicon.png">    </p:cNvPr>
          <p:cNvPicPr>
            <a:picLocks noChangeAspect="1"/>
          </p:cNvPicPr>
          <p:nvPr/>
        </p:nvPicPr>
        <p:blipFill>
          <a:blip r:embed="rId1"/>
          <a:stretch>
            <a:fillRect/>
          </a:stretch>
        </p:blipFill>
        <p:spPr>
          <a:xfrm>
            <a:off x="5751576" y="1234440"/>
            <a:ext cx="685800" cy="685800"/>
          </a:xfrm>
          <a:prstGeom prst="rect">
            <a:avLst/>
          </a:prstGeom>
        </p:spPr>
      </p:pic>
      <p:sp>
        <p:nvSpPr>
          <p:cNvPr id="3" name="Text 0"/>
          <p:cNvSpPr/>
          <p:nvPr/>
        </p:nvSpPr>
        <p:spPr>
          <a:xfrm>
            <a:off x="914400" y="2194560"/>
            <a:ext cx="10360152" cy="822960"/>
          </a:xfrm>
          <a:prstGeom prst="rect">
            <a:avLst/>
          </a:prstGeom>
          <a:noFill/>
          <a:ln/>
        </p:spPr>
        <p:txBody>
          <a:bodyPr wrap="square" lIns="0" tIns="0" rIns="0" bIns="0" rtlCol="0" anchor="ctr"/>
          <a:lstStyle/>
          <a:p>
            <a:pPr algn="ctr" indent="0" marL="0">
              <a:buNone/>
            </a:pPr>
            <a:r>
              <a:rPr lang="en-US" sz="4600" b="1" dirty="0">
                <a:solidFill>
                  <a:srgbClr val="E9F6EF"/>
                </a:solidFill>
                <a:latin typeface="Calibri" pitchFamily="34" charset="0"/>
                <a:ea typeface="Calibri" pitchFamily="34" charset="-122"/>
                <a:cs typeface="Calibri" pitchFamily="34" charset="-120"/>
              </a:rPr>
              <a:t>Thank you</a:t>
            </a:r>
            <a:endParaRPr lang="en-US" sz="4600" dirty="0"/>
          </a:p>
        </p:txBody>
      </p:sp>
      <p:sp>
        <p:nvSpPr>
          <p:cNvPr id="4" name="Text 1"/>
          <p:cNvSpPr/>
          <p:nvPr/>
        </p:nvSpPr>
        <p:spPr>
          <a:xfrm>
            <a:off x="914400" y="3108960"/>
            <a:ext cx="10360152" cy="457200"/>
          </a:xfrm>
          <a:prstGeom prst="rect">
            <a:avLst/>
          </a:prstGeom>
          <a:noFill/>
          <a:ln/>
        </p:spPr>
        <p:txBody>
          <a:bodyPr wrap="square" lIns="0" tIns="0" rIns="0" bIns="0" rtlCol="0" anchor="ctr"/>
          <a:lstStyle/>
          <a:p>
            <a:pPr algn="ctr" indent="0" marL="0">
              <a:buNone/>
            </a:pPr>
            <a:r>
              <a:rPr lang="en-US" sz="1800" dirty="0">
                <a:solidFill>
                  <a:srgbClr val="6EE7B7"/>
                </a:solidFill>
                <a:latin typeface="Calibri" pitchFamily="34" charset="0"/>
                <a:ea typeface="Calibri" pitchFamily="34" charset="-122"/>
                <a:cs typeface="Calibri" pitchFamily="34" charset="-120"/>
              </a:rPr>
              <a:t>Questions welcome. The live demonstration follows.</a:t>
            </a:r>
            <a:endParaRPr lang="en-US" sz="1800" dirty="0"/>
          </a:p>
        </p:txBody>
      </p:sp>
      <p:sp>
        <p:nvSpPr>
          <p:cNvPr id="5" name="Shape 2"/>
          <p:cNvSpPr/>
          <p:nvPr/>
        </p:nvSpPr>
        <p:spPr>
          <a:xfrm>
            <a:off x="2898648" y="3822192"/>
            <a:ext cx="6400800" cy="1828800"/>
          </a:xfrm>
          <a:prstGeom prst="roundRect">
            <a:avLst>
              <a:gd name="adj" fmla="val 6000"/>
            </a:avLst>
          </a:prstGeom>
          <a:solidFill>
            <a:srgbClr val="13291F"/>
          </a:solidFill>
          <a:ln w="12700">
            <a:solidFill>
              <a:srgbClr val="1E3B2E"/>
            </a:solidFill>
            <a:prstDash val="solid"/>
          </a:ln>
        </p:spPr>
        <p:txBody>
          <a:bodyPr/>
          <a:p/>
        </p:txBody>
      </p:sp>
      <p:sp>
        <p:nvSpPr>
          <p:cNvPr id="6" name="Shape 3"/>
          <p:cNvSpPr/>
          <p:nvPr/>
        </p:nvSpPr>
        <p:spPr>
          <a:xfrm>
            <a:off x="3081528" y="3913632"/>
            <a:ext cx="1645920" cy="1645920"/>
          </a:xfrm>
          <a:prstGeom prst="roundRect">
            <a:avLst>
              <a:gd name="adj" fmla="val 5556"/>
            </a:avLst>
          </a:prstGeom>
          <a:solidFill>
            <a:srgbClr val="FFFFFF"/>
          </a:solidFill>
          <a:ln w="12700">
            <a:solidFill>
              <a:srgbClr val="1E3B2E"/>
            </a:solidFill>
            <a:prstDash val="solid"/>
          </a:ln>
        </p:spPr>
        <p:txBody>
          <a:bodyPr/>
          <a:p/>
        </p:txBody>
      </p:sp>
      <p:pic>
        <p:nvPicPr>
          <p:cNvPr id="7" name="Image 1" descr="/Users/hatemisa/Desktop/Thesis/01 Demonstration/qr_brand.png">    </p:cNvPr>
          <p:cNvPicPr>
            <a:picLocks noChangeAspect="1"/>
          </p:cNvPicPr>
          <p:nvPr/>
        </p:nvPicPr>
        <p:blipFill>
          <a:blip r:embed="rId2"/>
          <a:stretch>
            <a:fillRect/>
          </a:stretch>
        </p:blipFill>
        <p:spPr>
          <a:xfrm>
            <a:off x="3136392" y="3968496"/>
            <a:ext cx="1536192" cy="1536192"/>
          </a:xfrm>
          <a:prstGeom prst="rect">
            <a:avLst/>
          </a:prstGeom>
        </p:spPr>
      </p:pic>
      <p:sp>
        <p:nvSpPr>
          <p:cNvPr id="8" name="Text 4"/>
          <p:cNvSpPr/>
          <p:nvPr/>
        </p:nvSpPr>
        <p:spPr>
          <a:xfrm>
            <a:off x="4892040" y="4023360"/>
            <a:ext cx="4206240" cy="1426464"/>
          </a:xfrm>
          <a:prstGeom prst="rect">
            <a:avLst/>
          </a:prstGeom>
          <a:noFill/>
          <a:ln/>
        </p:spPr>
        <p:txBody>
          <a:bodyPr wrap="square" lIns="0" tIns="0" rIns="0" bIns="0" rtlCol="0" anchor="ctr"/>
          <a:lstStyle/>
          <a:p>
            <a:pPr algn="l" indent="0" marL="0">
              <a:lnSpc>
                <a:spcPct val="130000"/>
              </a:lnSpc>
              <a:buNone/>
            </a:pPr>
            <a:r>
              <a:rPr lang="en-US" sz="1250" dirty="0">
                <a:solidFill>
                  <a:srgbClr val="8FA89B"/>
                </a:solidFill>
                <a:latin typeface="Calibri" pitchFamily="34" charset="0"/>
                <a:ea typeface="Calibri" pitchFamily="34" charset="-122"/>
                <a:cs typeface="Calibri" pitchFamily="34" charset="-120"/>
              </a:rPr>
              <a:t>Repository  </a:t>
            </a:r>
            <a:pPr algn="l" indent="0" marL="0">
              <a:lnSpc>
                <a:spcPct val="130000"/>
              </a:lnSpc>
              <a:buNone/>
            </a:pPr>
            <a:r>
              <a:rPr lang="en-US" sz="1250" b="1" dirty="0">
                <a:solidFill>
                  <a:srgbClr val="34D399"/>
                </a:solidFill>
                <a:latin typeface="Calibri" pitchFamily="34" charset="0"/>
                <a:ea typeface="Calibri" pitchFamily="34" charset="-122"/>
                <a:cs typeface="Calibri" pitchFamily="34" charset="-120"/>
              </a:rPr>
              <a:t>github.com/hatemmsc-ops/CyberBoard-AI
</a:t>
            </a:r>
            <a:pPr algn="l" indent="0" marL="0">
              <a:lnSpc>
                <a:spcPct val="130000"/>
              </a:lnSpc>
              <a:buNone/>
            </a:pPr>
            <a:r>
              <a:rPr lang="en-US" sz="1250" dirty="0">
                <a:solidFill>
                  <a:srgbClr val="8FA89B"/>
                </a:solidFill>
                <a:latin typeface="Calibri" pitchFamily="34" charset="0"/>
                <a:ea typeface="Calibri" pitchFamily="34" charset="-122"/>
                <a:cs typeface="Calibri" pitchFamily="34" charset="-120"/>
              </a:rPr>
              <a:t>Commit  </a:t>
            </a:r>
            <a:pPr algn="l" indent="0" marL="0">
              <a:lnSpc>
                <a:spcPct val="130000"/>
              </a:lnSpc>
              <a:buNone/>
            </a:pPr>
            <a:r>
              <a:rPr lang="en-US" sz="1250" b="1" dirty="0">
                <a:solidFill>
                  <a:srgbClr val="34D399"/>
                </a:solidFill>
                <a:latin typeface="Calibri" pitchFamily="34" charset="0"/>
                <a:ea typeface="Calibri" pitchFamily="34" charset="-122"/>
                <a:cs typeface="Calibri" pitchFamily="34" charset="-120"/>
              </a:rPr>
              <a:t>9660fb8
</a:t>
            </a:r>
            <a:pPr algn="l" indent="0" marL="0">
              <a:lnSpc>
                <a:spcPct val="130000"/>
              </a:lnSpc>
              <a:buNone/>
            </a:pPr>
            <a:r>
              <a:rPr lang="en-US" sz="1250" dirty="0">
                <a:solidFill>
                  <a:srgbClr val="8FA89B"/>
                </a:solidFill>
                <a:latin typeface="Calibri" pitchFamily="34" charset="0"/>
                <a:ea typeface="Calibri" pitchFamily="34" charset="-122"/>
                <a:cs typeface="Calibri" pitchFamily="34" charset="-120"/>
              </a:rPr>
              <a:t>Contact  </a:t>
            </a:r>
            <a:pPr algn="l" indent="0" marL="0">
              <a:lnSpc>
                <a:spcPct val="130000"/>
              </a:lnSpc>
              <a:buNone/>
            </a:pPr>
            <a:r>
              <a:rPr lang="en-US" sz="1250" dirty="0">
                <a:solidFill>
                  <a:srgbClr val="34D399"/>
                </a:solidFill>
                <a:latin typeface="Calibri" pitchFamily="34" charset="0"/>
                <a:ea typeface="Calibri" pitchFamily="34" charset="-122"/>
                <a:cs typeface="Calibri" pitchFamily="34" charset="-120"/>
              </a:rPr>
              <a:t>202508993@student.polytechnic.bh</a:t>
            </a:r>
            <a:endParaRPr lang="en-US" sz="1250" dirty="0"/>
          </a:p>
        </p:txBody>
      </p:sp>
      <p:sp>
        <p:nvSpPr>
          <p:cNvPr id="9" name="Text 5"/>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100" i="1" dirty="0">
                <a:solidFill>
                  <a:srgbClr val="8FA89B"/>
                </a:solidFill>
                <a:latin typeface="Calibri" pitchFamily="34" charset="0"/>
                <a:ea typeface="Calibri" pitchFamily="34" charset="-122"/>
                <a:cs typeface="Calibri" pitchFamily="34" charset="-120"/>
              </a:rPr>
              <a:t>CyberBoard AI   |   Hatem Isa   |   MSc Artificial Intelligence, Bahrain Polytechnic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2026-08-09T13:01:18Z</dcterms:created>
  <dcterms:modified xsi:type="dcterms:W3CDTF">2026-08-09T13:01:18Z</dcterms:modified>
</cp:coreProperties>
</file>